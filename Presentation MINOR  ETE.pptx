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60" r:id="rId4"/>
    <p:sldId id="359" r:id="rId5"/>
    <p:sldId id="362" r:id="rId6"/>
    <p:sldId id="262" r:id="rId7"/>
    <p:sldId id="369" r:id="rId8"/>
    <p:sldId id="363" r:id="rId9"/>
    <p:sldId id="370" r:id="rId10"/>
    <p:sldId id="364" r:id="rId11"/>
    <p:sldId id="371" r:id="rId12"/>
    <p:sldId id="367" r:id="rId13"/>
    <p:sldId id="368" r:id="rId14"/>
    <p:sldId id="366" r:id="rId15"/>
    <p:sldId id="3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7DB7F9-0761-4C50-9004-E57BE31D9638}" type="datetimeFigureOut">
              <a:rPr lang="en-IN" smtClean="0"/>
              <a:t>16-04-2025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AD4EA5-0D06-40F8-8719-FBA01F199A2C}" type="slidenum">
              <a:rPr lang="en-IN" smtClean="0"/>
              <a:t>‹#›</a:t>
            </a:fld>
            <a:endParaRPr lang="en-IN"/>
          </a:p>
        </p:txBody>
      </p:sp>
    </p:spTree>
    <p:extLst>
      <p:ext uri="{BB962C8B-B14F-4D97-AF65-F5344CB8AC3E}">
        <p14:creationId xmlns:p14="http://schemas.microsoft.com/office/powerpoint/2010/main" val="3842319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5D731-87B6-80C3-30AC-52A1095C1F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F40ACF-03EC-D90B-6D0F-AE240EE700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6F8AC1-F8F3-97C9-8618-956197B07217}"/>
              </a:ext>
            </a:extLst>
          </p:cNvPr>
          <p:cNvSpPr>
            <a:spLocks noGrp="1"/>
          </p:cNvSpPr>
          <p:nvPr>
            <p:ph type="dt" sz="half" idx="10"/>
          </p:nvPr>
        </p:nvSpPr>
        <p:spPr/>
        <p:txBody>
          <a:bodyPr/>
          <a:lstStyle>
            <a:lvl1pPr>
              <a:defRPr>
                <a:solidFill>
                  <a:schemeClr val="accent2">
                    <a:lumMod val="75000"/>
                  </a:schemeClr>
                </a:solidFill>
              </a:defRPr>
            </a:lvl1p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AFDBD6F7-10E3-5676-8583-99422E4B3D6A}"/>
              </a:ext>
            </a:extLst>
          </p:cNvPr>
          <p:cNvSpPr>
            <a:spLocks noGrp="1"/>
          </p:cNvSpPr>
          <p:nvPr>
            <p:ph type="ftr" sz="quarter" idx="11"/>
          </p:nvPr>
        </p:nvSpPr>
        <p:spPr/>
        <p:txBody>
          <a:bodyPr/>
          <a:lstStyle>
            <a:lvl1pPr>
              <a:defRPr>
                <a:solidFill>
                  <a:schemeClr val="accent2">
                    <a:lumMod val="75000"/>
                  </a:schemeClr>
                </a:solidFill>
              </a:defRPr>
            </a:lvl1pPr>
          </a:lstStyle>
          <a:p>
            <a:r>
              <a:rPr lang="en-IN" dirty="0"/>
              <a:t>Department of Information Technology </a:t>
            </a:r>
          </a:p>
        </p:txBody>
      </p:sp>
      <p:sp>
        <p:nvSpPr>
          <p:cNvPr id="6" name="Slide Number Placeholder 5">
            <a:extLst>
              <a:ext uri="{FF2B5EF4-FFF2-40B4-BE49-F238E27FC236}">
                <a16:creationId xmlns:a16="http://schemas.microsoft.com/office/drawing/2014/main" id="{378C60EB-C2DD-F945-61C6-15A0B66AFCAE}"/>
              </a:ext>
            </a:extLst>
          </p:cNvPr>
          <p:cNvSpPr>
            <a:spLocks noGrp="1"/>
          </p:cNvSpPr>
          <p:nvPr>
            <p:ph type="sldNum" sz="quarter" idx="12"/>
          </p:nvPr>
        </p:nvSpPr>
        <p:spPr/>
        <p:txBody>
          <a:bodyPr/>
          <a:lstStyle/>
          <a:p>
            <a:fld id="{B9CB3265-23DC-4FB3-8A50-75E721635BA5}" type="slidenum">
              <a:rPr lang="en-IN" smtClean="0"/>
              <a:pPr/>
              <a:t>‹#›</a:t>
            </a:fld>
            <a:endParaRPr lang="en-IN" dirty="0"/>
          </a:p>
        </p:txBody>
      </p:sp>
      <p:sp>
        <p:nvSpPr>
          <p:cNvPr id="7" name="Rectangle: Rounded Corners 6">
            <a:extLst>
              <a:ext uri="{FF2B5EF4-FFF2-40B4-BE49-F238E27FC236}">
                <a16:creationId xmlns:a16="http://schemas.microsoft.com/office/drawing/2014/main" id="{F1ACD5D7-6D5F-745C-CA32-A1A2AC0ECEA6}"/>
              </a:ext>
            </a:extLst>
          </p:cNvPr>
          <p:cNvSpPr/>
          <p:nvPr userDrawn="1"/>
        </p:nvSpPr>
        <p:spPr>
          <a:xfrm>
            <a:off x="0" y="6126480"/>
            <a:ext cx="12192000" cy="13716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05BD36C-7F92-54B2-8C30-C5421274AA0E}"/>
              </a:ext>
            </a:extLst>
          </p:cNvPr>
          <p:cNvSpPr/>
          <p:nvPr userDrawn="1"/>
        </p:nvSpPr>
        <p:spPr>
          <a:xfrm>
            <a:off x="0" y="1007746"/>
            <a:ext cx="12192000" cy="13716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descr="A black background with white text&#10;&#10;Description automatically generated">
            <a:extLst>
              <a:ext uri="{FF2B5EF4-FFF2-40B4-BE49-F238E27FC236}">
                <a16:creationId xmlns:a16="http://schemas.microsoft.com/office/drawing/2014/main" id="{7226129C-98AE-C065-C106-978E8757DC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0368" y="253683"/>
            <a:ext cx="2754312" cy="580190"/>
          </a:xfrm>
          <a:prstGeom prst="rect">
            <a:avLst/>
          </a:prstGeom>
        </p:spPr>
      </p:pic>
    </p:spTree>
    <p:extLst>
      <p:ext uri="{BB962C8B-B14F-4D97-AF65-F5344CB8AC3E}">
        <p14:creationId xmlns:p14="http://schemas.microsoft.com/office/powerpoint/2010/main" val="554521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5D731-87B6-80C3-30AC-52A1095C1F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F40ACF-03EC-D90B-6D0F-AE240EE700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6F8AC1-F8F3-97C9-8618-956197B07217}"/>
              </a:ext>
            </a:extLst>
          </p:cNvPr>
          <p:cNvSpPr>
            <a:spLocks noGrp="1"/>
          </p:cNvSpPr>
          <p:nvPr>
            <p:ph type="dt" sz="half" idx="10"/>
          </p:nvPr>
        </p:nvSpPr>
        <p:spPr/>
        <p:txBody>
          <a:bodyPr/>
          <a:lstStyle>
            <a:lvl1pPr>
              <a:defRPr>
                <a:solidFill>
                  <a:schemeClr val="accent2">
                    <a:lumMod val="75000"/>
                  </a:schemeClr>
                </a:solidFill>
              </a:defRPr>
            </a:lvl1p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AFDBD6F7-10E3-5676-8583-99422E4B3D6A}"/>
              </a:ext>
            </a:extLst>
          </p:cNvPr>
          <p:cNvSpPr>
            <a:spLocks noGrp="1"/>
          </p:cNvSpPr>
          <p:nvPr>
            <p:ph type="ftr" sz="quarter" idx="11"/>
          </p:nvPr>
        </p:nvSpPr>
        <p:spPr/>
        <p:txBody>
          <a:bodyPr/>
          <a:lstStyle>
            <a:lvl1pPr>
              <a:defRPr>
                <a:solidFill>
                  <a:schemeClr val="accent2">
                    <a:lumMod val="75000"/>
                  </a:schemeClr>
                </a:solidFill>
              </a:defRPr>
            </a:lvl1pPr>
          </a:lstStyle>
          <a:p>
            <a:r>
              <a:rPr lang="en-IN" dirty="0"/>
              <a:t>Department of Information Technology </a:t>
            </a:r>
          </a:p>
        </p:txBody>
      </p:sp>
      <p:sp>
        <p:nvSpPr>
          <p:cNvPr id="6" name="Slide Number Placeholder 5">
            <a:extLst>
              <a:ext uri="{FF2B5EF4-FFF2-40B4-BE49-F238E27FC236}">
                <a16:creationId xmlns:a16="http://schemas.microsoft.com/office/drawing/2014/main" id="{378C60EB-C2DD-F945-61C6-15A0B66AFCAE}"/>
              </a:ext>
            </a:extLst>
          </p:cNvPr>
          <p:cNvSpPr>
            <a:spLocks noGrp="1"/>
          </p:cNvSpPr>
          <p:nvPr>
            <p:ph type="sldNum" sz="quarter" idx="12"/>
          </p:nvPr>
        </p:nvSpPr>
        <p:spPr/>
        <p:txBody>
          <a:bodyPr/>
          <a:lstStyle/>
          <a:p>
            <a:fld id="{B9CB3265-23DC-4FB3-8A50-75E721635BA5}" type="slidenum">
              <a:rPr lang="en-IN" smtClean="0"/>
              <a:pPr/>
              <a:t>‹#›</a:t>
            </a:fld>
            <a:endParaRPr lang="en-IN" dirty="0"/>
          </a:p>
        </p:txBody>
      </p:sp>
      <p:sp>
        <p:nvSpPr>
          <p:cNvPr id="7" name="Rectangle: Rounded Corners 6">
            <a:extLst>
              <a:ext uri="{FF2B5EF4-FFF2-40B4-BE49-F238E27FC236}">
                <a16:creationId xmlns:a16="http://schemas.microsoft.com/office/drawing/2014/main" id="{F1ACD5D7-6D5F-745C-CA32-A1A2AC0ECEA6}"/>
              </a:ext>
            </a:extLst>
          </p:cNvPr>
          <p:cNvSpPr/>
          <p:nvPr userDrawn="1"/>
        </p:nvSpPr>
        <p:spPr>
          <a:xfrm>
            <a:off x="0" y="6126480"/>
            <a:ext cx="12192000" cy="13716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05BD36C-7F92-54B2-8C30-C5421274AA0E}"/>
              </a:ext>
            </a:extLst>
          </p:cNvPr>
          <p:cNvSpPr/>
          <p:nvPr userDrawn="1"/>
        </p:nvSpPr>
        <p:spPr>
          <a:xfrm>
            <a:off x="0" y="1007746"/>
            <a:ext cx="12192000" cy="13716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descr="A black background with white text&#10;&#10;Description automatically generated">
            <a:extLst>
              <a:ext uri="{FF2B5EF4-FFF2-40B4-BE49-F238E27FC236}">
                <a16:creationId xmlns:a16="http://schemas.microsoft.com/office/drawing/2014/main" id="{7226129C-98AE-C065-C106-978E8757DC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0368" y="253683"/>
            <a:ext cx="2754312" cy="580190"/>
          </a:xfrm>
          <a:prstGeom prst="rect">
            <a:avLst/>
          </a:prstGeom>
        </p:spPr>
      </p:pic>
    </p:spTree>
    <p:extLst>
      <p:ext uri="{BB962C8B-B14F-4D97-AF65-F5344CB8AC3E}">
        <p14:creationId xmlns:p14="http://schemas.microsoft.com/office/powerpoint/2010/main" val="8803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5D731-87B6-80C3-30AC-52A1095C1F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F40ACF-03EC-D90B-6D0F-AE240EE700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6F8AC1-F8F3-97C9-8618-956197B07217}"/>
              </a:ext>
            </a:extLst>
          </p:cNvPr>
          <p:cNvSpPr>
            <a:spLocks noGrp="1"/>
          </p:cNvSpPr>
          <p:nvPr>
            <p:ph type="dt" sz="half" idx="10"/>
          </p:nvPr>
        </p:nvSpPr>
        <p:spPr/>
        <p:txBody>
          <a:bodyPr/>
          <a:lstStyle/>
          <a:p>
            <a:fld id="{A36AC638-E0D4-480C-B8D2-A8AE4E9A99DC}" type="datetime1">
              <a:rPr lang="en-IN" smtClean="0"/>
              <a:t>16-04-2025</a:t>
            </a:fld>
            <a:endParaRPr lang="en-IN"/>
          </a:p>
        </p:txBody>
      </p:sp>
      <p:sp>
        <p:nvSpPr>
          <p:cNvPr id="5" name="Footer Placeholder 4">
            <a:extLst>
              <a:ext uri="{FF2B5EF4-FFF2-40B4-BE49-F238E27FC236}">
                <a16:creationId xmlns:a16="http://schemas.microsoft.com/office/drawing/2014/main" id="{AFDBD6F7-10E3-5676-8583-99422E4B3D6A}"/>
              </a:ext>
            </a:extLst>
          </p:cNvPr>
          <p:cNvSpPr>
            <a:spLocks noGrp="1"/>
          </p:cNvSpPr>
          <p:nvPr>
            <p:ph type="ftr" sz="quarter" idx="11"/>
          </p:nvPr>
        </p:nvSpPr>
        <p:spPr/>
        <p:txBody>
          <a:bodyPr/>
          <a:lstStyle/>
          <a:p>
            <a:r>
              <a:rPr lang="en-IN" dirty="0"/>
              <a:t>Department of Information Technology </a:t>
            </a:r>
          </a:p>
        </p:txBody>
      </p:sp>
      <p:sp>
        <p:nvSpPr>
          <p:cNvPr id="6" name="Slide Number Placeholder 5">
            <a:extLst>
              <a:ext uri="{FF2B5EF4-FFF2-40B4-BE49-F238E27FC236}">
                <a16:creationId xmlns:a16="http://schemas.microsoft.com/office/drawing/2014/main" id="{378C60EB-C2DD-F945-61C6-15A0B66AFCAE}"/>
              </a:ext>
            </a:extLst>
          </p:cNvPr>
          <p:cNvSpPr>
            <a:spLocks noGrp="1"/>
          </p:cNvSpPr>
          <p:nvPr>
            <p:ph type="sldNum" sz="quarter" idx="12"/>
          </p:nvPr>
        </p:nvSpPr>
        <p:spPr/>
        <p:txBody>
          <a:bodyPr/>
          <a:lstStyle/>
          <a:p>
            <a:fld id="{B9CB3265-23DC-4FB3-8A50-75E721635BA5}" type="slidenum">
              <a:rPr lang="en-IN" smtClean="0"/>
              <a:pPr/>
              <a:t>‹#›</a:t>
            </a:fld>
            <a:endParaRPr lang="en-IN" dirty="0"/>
          </a:p>
        </p:txBody>
      </p:sp>
      <p:sp>
        <p:nvSpPr>
          <p:cNvPr id="7" name="Rectangle: Rounded Corners 6">
            <a:extLst>
              <a:ext uri="{FF2B5EF4-FFF2-40B4-BE49-F238E27FC236}">
                <a16:creationId xmlns:a16="http://schemas.microsoft.com/office/drawing/2014/main" id="{F1ACD5D7-6D5F-745C-CA32-A1A2AC0ECEA6}"/>
              </a:ext>
            </a:extLst>
          </p:cNvPr>
          <p:cNvSpPr/>
          <p:nvPr userDrawn="1"/>
        </p:nvSpPr>
        <p:spPr>
          <a:xfrm>
            <a:off x="0" y="6126480"/>
            <a:ext cx="12192000" cy="13716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05BD36C-7F92-54B2-8C30-C5421274AA0E}"/>
              </a:ext>
            </a:extLst>
          </p:cNvPr>
          <p:cNvSpPr/>
          <p:nvPr userDrawn="1"/>
        </p:nvSpPr>
        <p:spPr>
          <a:xfrm>
            <a:off x="0" y="1007746"/>
            <a:ext cx="12192000" cy="13716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94519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40DE9-97E5-6752-3CCB-DA5AF2CA71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60EAC7-F7B1-F0DC-590C-D806629D7A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29474C-D10A-DA50-4622-A237136BBA37}"/>
              </a:ext>
            </a:extLst>
          </p:cNvPr>
          <p:cNvSpPr>
            <a:spLocks noGrp="1"/>
          </p:cNvSpPr>
          <p:nvPr>
            <p:ph type="dt" sz="half" idx="10"/>
          </p:nvPr>
        </p:nvSpPr>
        <p:spPr/>
        <p:txBody>
          <a:bodyPr/>
          <a:lstStyle/>
          <a:p>
            <a:fld id="{2B019FB2-0598-44FB-9E34-A528C366CB65}" type="datetime1">
              <a:rPr lang="en-IN" smtClean="0"/>
              <a:t>16-04-2025</a:t>
            </a:fld>
            <a:endParaRPr lang="en-IN"/>
          </a:p>
        </p:txBody>
      </p:sp>
      <p:sp>
        <p:nvSpPr>
          <p:cNvPr id="5" name="Footer Placeholder 4">
            <a:extLst>
              <a:ext uri="{FF2B5EF4-FFF2-40B4-BE49-F238E27FC236}">
                <a16:creationId xmlns:a16="http://schemas.microsoft.com/office/drawing/2014/main" id="{CE2F759E-F32F-75BC-FC0D-E1700E2C426D}"/>
              </a:ext>
            </a:extLst>
          </p:cNvPr>
          <p:cNvSpPr>
            <a:spLocks noGrp="1"/>
          </p:cNvSpPr>
          <p:nvPr>
            <p:ph type="ftr" sz="quarter" idx="11"/>
          </p:nvPr>
        </p:nvSpPr>
        <p:spPr/>
        <p:txBody>
          <a:bodyPr/>
          <a:lstStyle/>
          <a:p>
            <a:r>
              <a:rPr lang="en-IN"/>
              <a:t>Department of Information Technology </a:t>
            </a:r>
          </a:p>
        </p:txBody>
      </p:sp>
      <p:sp>
        <p:nvSpPr>
          <p:cNvPr id="6" name="Slide Number Placeholder 5">
            <a:extLst>
              <a:ext uri="{FF2B5EF4-FFF2-40B4-BE49-F238E27FC236}">
                <a16:creationId xmlns:a16="http://schemas.microsoft.com/office/drawing/2014/main" id="{644F96A8-5376-6351-19BF-8386F5AE616E}"/>
              </a:ext>
            </a:extLst>
          </p:cNvPr>
          <p:cNvSpPr>
            <a:spLocks noGrp="1"/>
          </p:cNvSpPr>
          <p:nvPr>
            <p:ph type="sldNum" sz="quarter" idx="12"/>
          </p:nvPr>
        </p:nvSpPr>
        <p:spPr/>
        <p:txBody>
          <a:bodyPr/>
          <a:lstStyle/>
          <a:p>
            <a:fld id="{B9CB3265-23DC-4FB3-8A50-75E721635BA5}" type="slidenum">
              <a:rPr lang="en-IN" smtClean="0"/>
              <a:t>‹#›</a:t>
            </a:fld>
            <a:endParaRPr lang="en-IN"/>
          </a:p>
        </p:txBody>
      </p:sp>
    </p:spTree>
    <p:extLst>
      <p:ext uri="{BB962C8B-B14F-4D97-AF65-F5344CB8AC3E}">
        <p14:creationId xmlns:p14="http://schemas.microsoft.com/office/powerpoint/2010/main" val="3166667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4101A-016C-940C-CEED-32A94867EC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F656C3-562A-7415-28AA-C20A72163E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BBE317E-170E-F777-8881-7CC14D6F98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B962549-FFDE-37E1-101E-C228FF345766}"/>
              </a:ext>
            </a:extLst>
          </p:cNvPr>
          <p:cNvSpPr>
            <a:spLocks noGrp="1"/>
          </p:cNvSpPr>
          <p:nvPr>
            <p:ph type="dt" sz="half" idx="10"/>
          </p:nvPr>
        </p:nvSpPr>
        <p:spPr/>
        <p:txBody>
          <a:bodyPr/>
          <a:lstStyle/>
          <a:p>
            <a:fld id="{EA784472-BA3A-495F-AA6D-CCC6AE5C7717}" type="datetime1">
              <a:rPr lang="en-IN" smtClean="0"/>
              <a:t>16-04-2025</a:t>
            </a:fld>
            <a:endParaRPr lang="en-IN"/>
          </a:p>
        </p:txBody>
      </p:sp>
      <p:sp>
        <p:nvSpPr>
          <p:cNvPr id="6" name="Footer Placeholder 5">
            <a:extLst>
              <a:ext uri="{FF2B5EF4-FFF2-40B4-BE49-F238E27FC236}">
                <a16:creationId xmlns:a16="http://schemas.microsoft.com/office/drawing/2014/main" id="{278DA091-1DD7-6762-5C54-878E126EB795}"/>
              </a:ext>
            </a:extLst>
          </p:cNvPr>
          <p:cNvSpPr>
            <a:spLocks noGrp="1"/>
          </p:cNvSpPr>
          <p:nvPr>
            <p:ph type="ftr" sz="quarter" idx="11"/>
          </p:nvPr>
        </p:nvSpPr>
        <p:spPr/>
        <p:txBody>
          <a:bodyPr/>
          <a:lstStyle/>
          <a:p>
            <a:r>
              <a:rPr lang="en-IN"/>
              <a:t>Department of Information Technology </a:t>
            </a:r>
          </a:p>
        </p:txBody>
      </p:sp>
      <p:sp>
        <p:nvSpPr>
          <p:cNvPr id="7" name="Slide Number Placeholder 6">
            <a:extLst>
              <a:ext uri="{FF2B5EF4-FFF2-40B4-BE49-F238E27FC236}">
                <a16:creationId xmlns:a16="http://schemas.microsoft.com/office/drawing/2014/main" id="{62188AF0-22FA-1AF2-223D-C7B9472F872C}"/>
              </a:ext>
            </a:extLst>
          </p:cNvPr>
          <p:cNvSpPr>
            <a:spLocks noGrp="1"/>
          </p:cNvSpPr>
          <p:nvPr>
            <p:ph type="sldNum" sz="quarter" idx="12"/>
          </p:nvPr>
        </p:nvSpPr>
        <p:spPr/>
        <p:txBody>
          <a:bodyPr/>
          <a:lstStyle/>
          <a:p>
            <a:fld id="{B9CB3265-23DC-4FB3-8A50-75E721635BA5}" type="slidenum">
              <a:rPr lang="en-IN" smtClean="0"/>
              <a:t>‹#›</a:t>
            </a:fld>
            <a:endParaRPr lang="en-IN"/>
          </a:p>
        </p:txBody>
      </p:sp>
    </p:spTree>
    <p:extLst>
      <p:ext uri="{BB962C8B-B14F-4D97-AF65-F5344CB8AC3E}">
        <p14:creationId xmlns:p14="http://schemas.microsoft.com/office/powerpoint/2010/main" val="490519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AFF7B-DDF4-E237-EE0A-3D6AC32A34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5E840D-7DAD-1F33-4946-6F1A34FF17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8AFB93-7F91-C254-13C6-11489FE4D7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D2B8D2-C29C-4AF5-03ED-14DDD98E65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263334-28CF-2C29-3A7B-1D7F076A64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A0446C8-B290-7A97-8FD6-C2813D97BE3A}"/>
              </a:ext>
            </a:extLst>
          </p:cNvPr>
          <p:cNvSpPr>
            <a:spLocks noGrp="1"/>
          </p:cNvSpPr>
          <p:nvPr>
            <p:ph type="dt" sz="half" idx="10"/>
          </p:nvPr>
        </p:nvSpPr>
        <p:spPr/>
        <p:txBody>
          <a:bodyPr/>
          <a:lstStyle/>
          <a:p>
            <a:fld id="{49F8CD3A-374C-42D1-992E-2B6F0A5139D4}" type="datetime1">
              <a:rPr lang="en-IN" smtClean="0"/>
              <a:t>16-04-2025</a:t>
            </a:fld>
            <a:endParaRPr lang="en-IN"/>
          </a:p>
        </p:txBody>
      </p:sp>
      <p:sp>
        <p:nvSpPr>
          <p:cNvPr id="8" name="Footer Placeholder 7">
            <a:extLst>
              <a:ext uri="{FF2B5EF4-FFF2-40B4-BE49-F238E27FC236}">
                <a16:creationId xmlns:a16="http://schemas.microsoft.com/office/drawing/2014/main" id="{ED0CFC0E-77F2-5D5F-9F30-BDE432EB969B}"/>
              </a:ext>
            </a:extLst>
          </p:cNvPr>
          <p:cNvSpPr>
            <a:spLocks noGrp="1"/>
          </p:cNvSpPr>
          <p:nvPr>
            <p:ph type="ftr" sz="quarter" idx="11"/>
          </p:nvPr>
        </p:nvSpPr>
        <p:spPr/>
        <p:txBody>
          <a:bodyPr/>
          <a:lstStyle/>
          <a:p>
            <a:r>
              <a:rPr lang="en-IN"/>
              <a:t>Department of Information Technology </a:t>
            </a:r>
          </a:p>
        </p:txBody>
      </p:sp>
      <p:sp>
        <p:nvSpPr>
          <p:cNvPr id="9" name="Slide Number Placeholder 8">
            <a:extLst>
              <a:ext uri="{FF2B5EF4-FFF2-40B4-BE49-F238E27FC236}">
                <a16:creationId xmlns:a16="http://schemas.microsoft.com/office/drawing/2014/main" id="{251A84EE-CD1A-F6A4-7A62-8674E2B9AE44}"/>
              </a:ext>
            </a:extLst>
          </p:cNvPr>
          <p:cNvSpPr>
            <a:spLocks noGrp="1"/>
          </p:cNvSpPr>
          <p:nvPr>
            <p:ph type="sldNum" sz="quarter" idx="12"/>
          </p:nvPr>
        </p:nvSpPr>
        <p:spPr/>
        <p:txBody>
          <a:bodyPr/>
          <a:lstStyle/>
          <a:p>
            <a:fld id="{B9CB3265-23DC-4FB3-8A50-75E721635BA5}" type="slidenum">
              <a:rPr lang="en-IN" smtClean="0"/>
              <a:t>‹#›</a:t>
            </a:fld>
            <a:endParaRPr lang="en-IN"/>
          </a:p>
        </p:txBody>
      </p:sp>
    </p:spTree>
    <p:extLst>
      <p:ext uri="{BB962C8B-B14F-4D97-AF65-F5344CB8AC3E}">
        <p14:creationId xmlns:p14="http://schemas.microsoft.com/office/powerpoint/2010/main" val="181628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561FF-5257-D83B-D865-4F4A1C09AFD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25AE11-A67B-B5BB-0190-3E784A5EB374}"/>
              </a:ext>
            </a:extLst>
          </p:cNvPr>
          <p:cNvSpPr>
            <a:spLocks noGrp="1"/>
          </p:cNvSpPr>
          <p:nvPr>
            <p:ph type="dt" sz="half" idx="10"/>
          </p:nvPr>
        </p:nvSpPr>
        <p:spPr/>
        <p:txBody>
          <a:bodyPr/>
          <a:lstStyle/>
          <a:p>
            <a:fld id="{43F2C1F7-87E0-472F-915F-66A4D5488932}" type="datetime1">
              <a:rPr lang="en-IN" smtClean="0"/>
              <a:t>16-04-2025</a:t>
            </a:fld>
            <a:endParaRPr lang="en-IN"/>
          </a:p>
        </p:txBody>
      </p:sp>
      <p:sp>
        <p:nvSpPr>
          <p:cNvPr id="4" name="Footer Placeholder 3">
            <a:extLst>
              <a:ext uri="{FF2B5EF4-FFF2-40B4-BE49-F238E27FC236}">
                <a16:creationId xmlns:a16="http://schemas.microsoft.com/office/drawing/2014/main" id="{EE0727A0-5364-7B2B-F877-2A8AD362C6CC}"/>
              </a:ext>
            </a:extLst>
          </p:cNvPr>
          <p:cNvSpPr>
            <a:spLocks noGrp="1"/>
          </p:cNvSpPr>
          <p:nvPr>
            <p:ph type="ftr" sz="quarter" idx="11"/>
          </p:nvPr>
        </p:nvSpPr>
        <p:spPr/>
        <p:txBody>
          <a:bodyPr/>
          <a:lstStyle/>
          <a:p>
            <a:r>
              <a:rPr lang="en-IN"/>
              <a:t>Department of Information Technology </a:t>
            </a:r>
          </a:p>
        </p:txBody>
      </p:sp>
      <p:sp>
        <p:nvSpPr>
          <p:cNvPr id="5" name="Slide Number Placeholder 4">
            <a:extLst>
              <a:ext uri="{FF2B5EF4-FFF2-40B4-BE49-F238E27FC236}">
                <a16:creationId xmlns:a16="http://schemas.microsoft.com/office/drawing/2014/main" id="{2344FF95-84C3-63D1-6570-319EB8F1CFED}"/>
              </a:ext>
            </a:extLst>
          </p:cNvPr>
          <p:cNvSpPr>
            <a:spLocks noGrp="1"/>
          </p:cNvSpPr>
          <p:nvPr>
            <p:ph type="sldNum" sz="quarter" idx="12"/>
          </p:nvPr>
        </p:nvSpPr>
        <p:spPr/>
        <p:txBody>
          <a:bodyPr/>
          <a:lstStyle/>
          <a:p>
            <a:fld id="{B9CB3265-23DC-4FB3-8A50-75E721635BA5}" type="slidenum">
              <a:rPr lang="en-IN" smtClean="0"/>
              <a:t>‹#›</a:t>
            </a:fld>
            <a:endParaRPr lang="en-IN"/>
          </a:p>
        </p:txBody>
      </p:sp>
    </p:spTree>
    <p:extLst>
      <p:ext uri="{BB962C8B-B14F-4D97-AF65-F5344CB8AC3E}">
        <p14:creationId xmlns:p14="http://schemas.microsoft.com/office/powerpoint/2010/main" val="3178896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1C9366-954A-9299-6415-96F9074C62B4}"/>
              </a:ext>
            </a:extLst>
          </p:cNvPr>
          <p:cNvSpPr>
            <a:spLocks noGrp="1"/>
          </p:cNvSpPr>
          <p:nvPr>
            <p:ph type="dt" sz="half" idx="10"/>
          </p:nvPr>
        </p:nvSpPr>
        <p:spPr/>
        <p:txBody>
          <a:bodyPr/>
          <a:lstStyle/>
          <a:p>
            <a:fld id="{90A24866-63AD-44B9-963F-3F980912BC8C}" type="datetime1">
              <a:rPr lang="en-IN" smtClean="0"/>
              <a:t>16-04-2025</a:t>
            </a:fld>
            <a:endParaRPr lang="en-IN"/>
          </a:p>
        </p:txBody>
      </p:sp>
      <p:sp>
        <p:nvSpPr>
          <p:cNvPr id="3" name="Footer Placeholder 2">
            <a:extLst>
              <a:ext uri="{FF2B5EF4-FFF2-40B4-BE49-F238E27FC236}">
                <a16:creationId xmlns:a16="http://schemas.microsoft.com/office/drawing/2014/main" id="{DF534150-0E38-A2ED-6E85-5E553A026C97}"/>
              </a:ext>
            </a:extLst>
          </p:cNvPr>
          <p:cNvSpPr>
            <a:spLocks noGrp="1"/>
          </p:cNvSpPr>
          <p:nvPr>
            <p:ph type="ftr" sz="quarter" idx="11"/>
          </p:nvPr>
        </p:nvSpPr>
        <p:spPr/>
        <p:txBody>
          <a:bodyPr/>
          <a:lstStyle/>
          <a:p>
            <a:r>
              <a:rPr lang="en-IN"/>
              <a:t>Department of Information Technology </a:t>
            </a:r>
          </a:p>
        </p:txBody>
      </p:sp>
      <p:sp>
        <p:nvSpPr>
          <p:cNvPr id="4" name="Slide Number Placeholder 3">
            <a:extLst>
              <a:ext uri="{FF2B5EF4-FFF2-40B4-BE49-F238E27FC236}">
                <a16:creationId xmlns:a16="http://schemas.microsoft.com/office/drawing/2014/main" id="{0639A1E1-92AC-7100-376D-B2379E960399}"/>
              </a:ext>
            </a:extLst>
          </p:cNvPr>
          <p:cNvSpPr>
            <a:spLocks noGrp="1"/>
          </p:cNvSpPr>
          <p:nvPr>
            <p:ph type="sldNum" sz="quarter" idx="12"/>
          </p:nvPr>
        </p:nvSpPr>
        <p:spPr/>
        <p:txBody>
          <a:bodyPr/>
          <a:lstStyle/>
          <a:p>
            <a:fld id="{B9CB3265-23DC-4FB3-8A50-75E721635BA5}" type="slidenum">
              <a:rPr lang="en-IN" smtClean="0"/>
              <a:t>‹#›</a:t>
            </a:fld>
            <a:endParaRPr lang="en-IN"/>
          </a:p>
        </p:txBody>
      </p:sp>
    </p:spTree>
    <p:extLst>
      <p:ext uri="{BB962C8B-B14F-4D97-AF65-F5344CB8AC3E}">
        <p14:creationId xmlns:p14="http://schemas.microsoft.com/office/powerpoint/2010/main" val="3087996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D5E6-60F3-0A2C-6E5A-D2657DC0D5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38DFAFC-C939-B823-3FD7-D812C7E9F3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4F4B6E-DFFA-2AFE-8C4E-2FD0C7A5C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E64548-563A-752E-52B4-86178972947D}"/>
              </a:ext>
            </a:extLst>
          </p:cNvPr>
          <p:cNvSpPr>
            <a:spLocks noGrp="1"/>
          </p:cNvSpPr>
          <p:nvPr>
            <p:ph type="dt" sz="half" idx="10"/>
          </p:nvPr>
        </p:nvSpPr>
        <p:spPr/>
        <p:txBody>
          <a:bodyPr/>
          <a:lstStyle/>
          <a:p>
            <a:fld id="{D9CB20A9-E5F4-44BC-A014-ECDA8250B3B8}" type="datetime1">
              <a:rPr lang="en-IN" smtClean="0"/>
              <a:t>16-04-2025</a:t>
            </a:fld>
            <a:endParaRPr lang="en-IN"/>
          </a:p>
        </p:txBody>
      </p:sp>
      <p:sp>
        <p:nvSpPr>
          <p:cNvPr id="6" name="Footer Placeholder 5">
            <a:extLst>
              <a:ext uri="{FF2B5EF4-FFF2-40B4-BE49-F238E27FC236}">
                <a16:creationId xmlns:a16="http://schemas.microsoft.com/office/drawing/2014/main" id="{64A593D4-A6E0-0CE2-E5E7-1A39A9DE5F95}"/>
              </a:ext>
            </a:extLst>
          </p:cNvPr>
          <p:cNvSpPr>
            <a:spLocks noGrp="1"/>
          </p:cNvSpPr>
          <p:nvPr>
            <p:ph type="ftr" sz="quarter" idx="11"/>
          </p:nvPr>
        </p:nvSpPr>
        <p:spPr/>
        <p:txBody>
          <a:bodyPr/>
          <a:lstStyle/>
          <a:p>
            <a:r>
              <a:rPr lang="en-IN"/>
              <a:t>Department of Information Technology </a:t>
            </a:r>
          </a:p>
        </p:txBody>
      </p:sp>
      <p:sp>
        <p:nvSpPr>
          <p:cNvPr id="7" name="Slide Number Placeholder 6">
            <a:extLst>
              <a:ext uri="{FF2B5EF4-FFF2-40B4-BE49-F238E27FC236}">
                <a16:creationId xmlns:a16="http://schemas.microsoft.com/office/drawing/2014/main" id="{87C97A35-63A6-B602-583E-5392A7C3D427}"/>
              </a:ext>
            </a:extLst>
          </p:cNvPr>
          <p:cNvSpPr>
            <a:spLocks noGrp="1"/>
          </p:cNvSpPr>
          <p:nvPr>
            <p:ph type="sldNum" sz="quarter" idx="12"/>
          </p:nvPr>
        </p:nvSpPr>
        <p:spPr/>
        <p:txBody>
          <a:bodyPr/>
          <a:lstStyle/>
          <a:p>
            <a:fld id="{B9CB3265-23DC-4FB3-8A50-75E721635BA5}" type="slidenum">
              <a:rPr lang="en-IN" smtClean="0"/>
              <a:t>‹#›</a:t>
            </a:fld>
            <a:endParaRPr lang="en-IN"/>
          </a:p>
        </p:txBody>
      </p:sp>
    </p:spTree>
    <p:extLst>
      <p:ext uri="{BB962C8B-B14F-4D97-AF65-F5344CB8AC3E}">
        <p14:creationId xmlns:p14="http://schemas.microsoft.com/office/powerpoint/2010/main" val="29011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23D85-6E19-03DC-8633-75A57AB64D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DD6DD5-04F1-9997-C071-02DAEFAF21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C656852-01E0-8C97-C2D3-AC22328629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49CB2C-D18E-B2CA-6DF8-68D4DE9EAE2F}"/>
              </a:ext>
            </a:extLst>
          </p:cNvPr>
          <p:cNvSpPr>
            <a:spLocks noGrp="1"/>
          </p:cNvSpPr>
          <p:nvPr>
            <p:ph type="dt" sz="half" idx="10"/>
          </p:nvPr>
        </p:nvSpPr>
        <p:spPr/>
        <p:txBody>
          <a:bodyPr/>
          <a:lstStyle/>
          <a:p>
            <a:fld id="{347C98A3-500C-479F-AFF1-ADC186925430}" type="datetime1">
              <a:rPr lang="en-IN" smtClean="0"/>
              <a:t>16-04-2025</a:t>
            </a:fld>
            <a:endParaRPr lang="en-IN"/>
          </a:p>
        </p:txBody>
      </p:sp>
      <p:sp>
        <p:nvSpPr>
          <p:cNvPr id="6" name="Footer Placeholder 5">
            <a:extLst>
              <a:ext uri="{FF2B5EF4-FFF2-40B4-BE49-F238E27FC236}">
                <a16:creationId xmlns:a16="http://schemas.microsoft.com/office/drawing/2014/main" id="{2AB5B46B-7A74-E8FE-0102-A73CB113BAC6}"/>
              </a:ext>
            </a:extLst>
          </p:cNvPr>
          <p:cNvSpPr>
            <a:spLocks noGrp="1"/>
          </p:cNvSpPr>
          <p:nvPr>
            <p:ph type="ftr" sz="quarter" idx="11"/>
          </p:nvPr>
        </p:nvSpPr>
        <p:spPr/>
        <p:txBody>
          <a:bodyPr/>
          <a:lstStyle/>
          <a:p>
            <a:r>
              <a:rPr lang="en-IN"/>
              <a:t>Department of Information Technology </a:t>
            </a:r>
          </a:p>
        </p:txBody>
      </p:sp>
      <p:sp>
        <p:nvSpPr>
          <p:cNvPr id="7" name="Slide Number Placeholder 6">
            <a:extLst>
              <a:ext uri="{FF2B5EF4-FFF2-40B4-BE49-F238E27FC236}">
                <a16:creationId xmlns:a16="http://schemas.microsoft.com/office/drawing/2014/main" id="{5245AE7A-8FEA-F4E9-189F-8240BF93E471}"/>
              </a:ext>
            </a:extLst>
          </p:cNvPr>
          <p:cNvSpPr>
            <a:spLocks noGrp="1"/>
          </p:cNvSpPr>
          <p:nvPr>
            <p:ph type="sldNum" sz="quarter" idx="12"/>
          </p:nvPr>
        </p:nvSpPr>
        <p:spPr/>
        <p:txBody>
          <a:bodyPr/>
          <a:lstStyle/>
          <a:p>
            <a:fld id="{B9CB3265-23DC-4FB3-8A50-75E721635BA5}" type="slidenum">
              <a:rPr lang="en-IN" smtClean="0"/>
              <a:t>‹#›</a:t>
            </a:fld>
            <a:endParaRPr lang="en-IN"/>
          </a:p>
        </p:txBody>
      </p:sp>
    </p:spTree>
    <p:extLst>
      <p:ext uri="{BB962C8B-B14F-4D97-AF65-F5344CB8AC3E}">
        <p14:creationId xmlns:p14="http://schemas.microsoft.com/office/powerpoint/2010/main" val="3603426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CB66A-323C-CF45-BA04-E8F375A820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AA3015-376D-7FC9-0DB7-DAB2669F2F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46E85B-4EFA-F20E-2781-F5FD05A7A915}"/>
              </a:ext>
            </a:extLst>
          </p:cNvPr>
          <p:cNvSpPr>
            <a:spLocks noGrp="1"/>
          </p:cNvSpPr>
          <p:nvPr>
            <p:ph type="dt" sz="half" idx="10"/>
          </p:nvPr>
        </p:nvSpPr>
        <p:spPr/>
        <p:txBody>
          <a:bodyPr/>
          <a:lstStyle/>
          <a:p>
            <a:fld id="{56EC1ACE-1F0A-4CC4-BF1F-EC63D65AD311}" type="datetime1">
              <a:rPr lang="en-IN" smtClean="0"/>
              <a:t>16-04-2025</a:t>
            </a:fld>
            <a:endParaRPr lang="en-IN"/>
          </a:p>
        </p:txBody>
      </p:sp>
      <p:sp>
        <p:nvSpPr>
          <p:cNvPr id="5" name="Footer Placeholder 4">
            <a:extLst>
              <a:ext uri="{FF2B5EF4-FFF2-40B4-BE49-F238E27FC236}">
                <a16:creationId xmlns:a16="http://schemas.microsoft.com/office/drawing/2014/main" id="{D51ADE59-761A-57EF-8865-C4D1FA517450}"/>
              </a:ext>
            </a:extLst>
          </p:cNvPr>
          <p:cNvSpPr>
            <a:spLocks noGrp="1"/>
          </p:cNvSpPr>
          <p:nvPr>
            <p:ph type="ftr" sz="quarter" idx="11"/>
          </p:nvPr>
        </p:nvSpPr>
        <p:spPr/>
        <p:txBody>
          <a:bodyPr/>
          <a:lstStyle/>
          <a:p>
            <a:r>
              <a:rPr lang="en-IN"/>
              <a:t>Department of Information Technology </a:t>
            </a:r>
          </a:p>
        </p:txBody>
      </p:sp>
      <p:sp>
        <p:nvSpPr>
          <p:cNvPr id="6" name="Slide Number Placeholder 5">
            <a:extLst>
              <a:ext uri="{FF2B5EF4-FFF2-40B4-BE49-F238E27FC236}">
                <a16:creationId xmlns:a16="http://schemas.microsoft.com/office/drawing/2014/main" id="{575A3463-ED36-02E8-7475-1CE2CEB1D12B}"/>
              </a:ext>
            </a:extLst>
          </p:cNvPr>
          <p:cNvSpPr>
            <a:spLocks noGrp="1"/>
          </p:cNvSpPr>
          <p:nvPr>
            <p:ph type="sldNum" sz="quarter" idx="12"/>
          </p:nvPr>
        </p:nvSpPr>
        <p:spPr/>
        <p:txBody>
          <a:bodyPr/>
          <a:lstStyle/>
          <a:p>
            <a:fld id="{B9CB3265-23DC-4FB3-8A50-75E721635BA5}" type="slidenum">
              <a:rPr lang="en-IN" smtClean="0"/>
              <a:t>‹#›</a:t>
            </a:fld>
            <a:endParaRPr lang="en-IN"/>
          </a:p>
        </p:txBody>
      </p:sp>
    </p:spTree>
    <p:extLst>
      <p:ext uri="{BB962C8B-B14F-4D97-AF65-F5344CB8AC3E}">
        <p14:creationId xmlns:p14="http://schemas.microsoft.com/office/powerpoint/2010/main" val="1728448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F1727B-5455-8C8D-099F-C8929EE1B5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4F34E7-4F7F-C8B2-805F-D4E2FE53C6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6D4A30-AB03-C672-F6B0-7D6AAC819AF1}"/>
              </a:ext>
            </a:extLst>
          </p:cNvPr>
          <p:cNvSpPr>
            <a:spLocks noGrp="1"/>
          </p:cNvSpPr>
          <p:nvPr>
            <p:ph type="dt" sz="half" idx="10"/>
          </p:nvPr>
        </p:nvSpPr>
        <p:spPr/>
        <p:txBody>
          <a:bodyPr/>
          <a:lstStyle/>
          <a:p>
            <a:fld id="{211CAC28-5D2D-49ED-87E2-C3955AF63257}" type="datetime1">
              <a:rPr lang="en-IN" smtClean="0"/>
              <a:t>16-04-2025</a:t>
            </a:fld>
            <a:endParaRPr lang="en-IN"/>
          </a:p>
        </p:txBody>
      </p:sp>
      <p:sp>
        <p:nvSpPr>
          <p:cNvPr id="5" name="Footer Placeholder 4">
            <a:extLst>
              <a:ext uri="{FF2B5EF4-FFF2-40B4-BE49-F238E27FC236}">
                <a16:creationId xmlns:a16="http://schemas.microsoft.com/office/drawing/2014/main" id="{33341EB7-B65F-792B-A270-A5A9E1B40BC1}"/>
              </a:ext>
            </a:extLst>
          </p:cNvPr>
          <p:cNvSpPr>
            <a:spLocks noGrp="1"/>
          </p:cNvSpPr>
          <p:nvPr>
            <p:ph type="ftr" sz="quarter" idx="11"/>
          </p:nvPr>
        </p:nvSpPr>
        <p:spPr/>
        <p:txBody>
          <a:bodyPr/>
          <a:lstStyle/>
          <a:p>
            <a:r>
              <a:rPr lang="en-IN"/>
              <a:t>Department of Information Technology </a:t>
            </a:r>
          </a:p>
        </p:txBody>
      </p:sp>
      <p:sp>
        <p:nvSpPr>
          <p:cNvPr id="6" name="Slide Number Placeholder 5">
            <a:extLst>
              <a:ext uri="{FF2B5EF4-FFF2-40B4-BE49-F238E27FC236}">
                <a16:creationId xmlns:a16="http://schemas.microsoft.com/office/drawing/2014/main" id="{10009144-7AEF-AED0-2C54-351B2315AF64}"/>
              </a:ext>
            </a:extLst>
          </p:cNvPr>
          <p:cNvSpPr>
            <a:spLocks noGrp="1"/>
          </p:cNvSpPr>
          <p:nvPr>
            <p:ph type="sldNum" sz="quarter" idx="12"/>
          </p:nvPr>
        </p:nvSpPr>
        <p:spPr/>
        <p:txBody>
          <a:bodyPr/>
          <a:lstStyle/>
          <a:p>
            <a:fld id="{B9CB3265-23DC-4FB3-8A50-75E721635BA5}" type="slidenum">
              <a:rPr lang="en-IN" smtClean="0"/>
              <a:t>‹#›</a:t>
            </a:fld>
            <a:endParaRPr lang="en-IN"/>
          </a:p>
        </p:txBody>
      </p:sp>
    </p:spTree>
    <p:extLst>
      <p:ext uri="{BB962C8B-B14F-4D97-AF65-F5344CB8AC3E}">
        <p14:creationId xmlns:p14="http://schemas.microsoft.com/office/powerpoint/2010/main" val="267520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2C8DBB-795B-477E-746C-706A3A2F68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DBDEB0-BB8C-24DA-2D03-D71C2EBC47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8D1DC3-CE40-863D-7A58-CD5DE2D0CA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85CD7A-FA18-4D61-B3AB-C449B31F5389}" type="datetime1">
              <a:rPr lang="en-IN" smtClean="0"/>
              <a:t>16-04-2025</a:t>
            </a:fld>
            <a:endParaRPr lang="en-IN"/>
          </a:p>
        </p:txBody>
      </p:sp>
      <p:sp>
        <p:nvSpPr>
          <p:cNvPr id="5" name="Footer Placeholder 4">
            <a:extLst>
              <a:ext uri="{FF2B5EF4-FFF2-40B4-BE49-F238E27FC236}">
                <a16:creationId xmlns:a16="http://schemas.microsoft.com/office/drawing/2014/main" id="{F0EB2468-01F6-5CC3-4D6E-A462BF75A4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Department of Information Technology </a:t>
            </a:r>
          </a:p>
        </p:txBody>
      </p:sp>
      <p:sp>
        <p:nvSpPr>
          <p:cNvPr id="6" name="Slide Number Placeholder 5">
            <a:extLst>
              <a:ext uri="{FF2B5EF4-FFF2-40B4-BE49-F238E27FC236}">
                <a16:creationId xmlns:a16="http://schemas.microsoft.com/office/drawing/2014/main" id="{11176C38-F751-C0E6-D202-CE907BE975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CB3265-23DC-4FB3-8A50-75E721635BA5}" type="slidenum">
              <a:rPr lang="en-IN" smtClean="0"/>
              <a:t>‹#›</a:t>
            </a:fld>
            <a:endParaRPr lang="en-IN"/>
          </a:p>
        </p:txBody>
      </p:sp>
    </p:spTree>
    <p:extLst>
      <p:ext uri="{BB962C8B-B14F-4D97-AF65-F5344CB8AC3E}">
        <p14:creationId xmlns:p14="http://schemas.microsoft.com/office/powerpoint/2010/main" val="2427468204"/>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0" r:id="rId3"/>
    <p:sldLayoutId id="214748365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03236-FD37-8BEA-5CD6-F59E3A4C9A74}"/>
              </a:ext>
            </a:extLst>
          </p:cNvPr>
          <p:cNvSpPr>
            <a:spLocks noGrp="1"/>
          </p:cNvSpPr>
          <p:nvPr>
            <p:ph type="ctrTitle"/>
          </p:nvPr>
        </p:nvSpPr>
        <p:spPr>
          <a:xfrm>
            <a:off x="838201" y="2192594"/>
            <a:ext cx="10291915" cy="1907458"/>
          </a:xfrm>
        </p:spPr>
        <p:txBody>
          <a:bodyPr>
            <a:noAutofit/>
          </a:bodyPr>
          <a:lstStyle/>
          <a:p>
            <a:pPr algn="ctr">
              <a:lnSpc>
                <a:spcPts val="7733"/>
              </a:lnSpc>
            </a:pPr>
            <a:br>
              <a:rPr lang="en-US" sz="8000" dirty="0">
                <a:solidFill>
                  <a:srgbClr val="000000"/>
                </a:solidFill>
                <a:latin typeface="League Spartan"/>
                <a:ea typeface="League Spartan"/>
                <a:cs typeface="League Spartan"/>
                <a:sym typeface="League Spartan"/>
              </a:rPr>
            </a:br>
            <a:r>
              <a:rPr lang="en-US" sz="4000" b="1" dirty="0">
                <a:solidFill>
                  <a:srgbClr val="000000"/>
                </a:solidFill>
                <a:latin typeface="Times New Roman" panose="02020603050405020304" pitchFamily="18" charset="0"/>
                <a:ea typeface="League Spartan"/>
                <a:cs typeface="Times New Roman" panose="02020603050405020304" pitchFamily="18" charset="0"/>
                <a:sym typeface="League Spartan"/>
              </a:rPr>
              <a:t>AI-DRIVEN VIDEO SUMMARIZATION USING LANGCHAIN AND LLM</a:t>
            </a:r>
          </a:p>
        </p:txBody>
      </p:sp>
      <p:sp>
        <p:nvSpPr>
          <p:cNvPr id="3" name="Subtitle 2">
            <a:extLst>
              <a:ext uri="{FF2B5EF4-FFF2-40B4-BE49-F238E27FC236}">
                <a16:creationId xmlns:a16="http://schemas.microsoft.com/office/drawing/2014/main" id="{8F3109B5-04C7-4B43-DA6E-F3C12DBD7E02}"/>
              </a:ext>
            </a:extLst>
          </p:cNvPr>
          <p:cNvSpPr>
            <a:spLocks noGrp="1"/>
          </p:cNvSpPr>
          <p:nvPr>
            <p:ph type="subTitle" idx="1"/>
          </p:nvPr>
        </p:nvSpPr>
        <p:spPr>
          <a:xfrm>
            <a:off x="7737986" y="4781098"/>
            <a:ext cx="4296697" cy="1125925"/>
          </a:xfrm>
        </p:spPr>
        <p:txBody>
          <a:bodyPr>
            <a:normAutofit fontScale="77500" lnSpcReduction="20000"/>
          </a:bodyPr>
          <a:lstStyle/>
          <a:p>
            <a:pPr>
              <a:lnSpc>
                <a:spcPct val="100000"/>
              </a:lnSpc>
              <a:spcBef>
                <a:spcPts val="300"/>
              </a:spcBef>
              <a:spcAft>
                <a:spcPts val="300"/>
              </a:spcAft>
            </a:pPr>
            <a:r>
              <a:rPr lang="en-IN" sz="1400" b="1" dirty="0">
                <a:solidFill>
                  <a:schemeClr val="accent1">
                    <a:lumMod val="75000"/>
                  </a:schemeClr>
                </a:solidFill>
                <a:latin typeface="Tenorite" panose="00000500000000000000" pitchFamily="2" charset="0"/>
                <a:ea typeface="Calibri" panose="020F0502020204030204" pitchFamily="34" charset="0"/>
                <a:cs typeface="Times New Roman" panose="02020603050405020304" pitchFamily="18" charset="0"/>
              </a:rPr>
              <a:t>Submitted by</a:t>
            </a:r>
          </a:p>
          <a:p>
            <a:pPr algn="l">
              <a:lnSpc>
                <a:spcPct val="100000"/>
              </a:lnSpc>
              <a:spcBef>
                <a:spcPts val="300"/>
              </a:spcBef>
              <a:spcAft>
                <a:spcPts val="300"/>
              </a:spcAft>
            </a:pPr>
            <a:r>
              <a:rPr lang="en-US" sz="1400" b="1" dirty="0">
                <a:latin typeface="Tenorite" panose="00000500000000000000" pitchFamily="2" charset="0"/>
                <a:ea typeface="Calibri" panose="020F0502020204030204" pitchFamily="34" charset="0"/>
                <a:cs typeface="Times New Roman" panose="02020603050405020304" pitchFamily="18" charset="0"/>
              </a:rPr>
              <a:t>Student Name : Samagra Gupta </a:t>
            </a:r>
          </a:p>
          <a:p>
            <a:pPr algn="l">
              <a:lnSpc>
                <a:spcPct val="100000"/>
              </a:lnSpc>
              <a:spcBef>
                <a:spcPts val="300"/>
              </a:spcBef>
              <a:spcAft>
                <a:spcPts val="300"/>
              </a:spcAft>
            </a:pPr>
            <a:r>
              <a:rPr lang="en-IN" sz="1400" b="1" dirty="0">
                <a:latin typeface="Tenorite" panose="00000500000000000000" pitchFamily="2" charset="0"/>
                <a:ea typeface="Calibri" panose="020F0502020204030204" pitchFamily="34" charset="0"/>
                <a:cs typeface="Times New Roman" panose="02020603050405020304" pitchFamily="18" charset="0"/>
              </a:rPr>
              <a:t>                           Soham Kolhe</a:t>
            </a:r>
          </a:p>
          <a:p>
            <a:pPr algn="l">
              <a:lnSpc>
                <a:spcPct val="100000"/>
              </a:lnSpc>
              <a:spcBef>
                <a:spcPts val="300"/>
              </a:spcBef>
              <a:spcAft>
                <a:spcPts val="300"/>
              </a:spcAft>
            </a:pPr>
            <a:r>
              <a:rPr lang="en-US" sz="1400" b="1" dirty="0">
                <a:latin typeface="Tenorite" panose="00000500000000000000" pitchFamily="2" charset="0"/>
                <a:ea typeface="Calibri" panose="020F0502020204030204" pitchFamily="34" charset="0"/>
                <a:cs typeface="Times New Roman" panose="02020603050405020304" pitchFamily="18" charset="0"/>
              </a:rPr>
              <a:t>Reg. No.             229301588</a:t>
            </a:r>
          </a:p>
          <a:p>
            <a:pPr algn="l">
              <a:lnSpc>
                <a:spcPct val="100000"/>
              </a:lnSpc>
              <a:spcBef>
                <a:spcPts val="300"/>
              </a:spcBef>
              <a:spcAft>
                <a:spcPts val="300"/>
              </a:spcAft>
            </a:pPr>
            <a:r>
              <a:rPr lang="en-US" sz="1400" b="1" dirty="0">
                <a:latin typeface="Tenorite" panose="00000500000000000000" pitchFamily="2" charset="0"/>
                <a:ea typeface="Calibri" panose="020F0502020204030204" pitchFamily="34" charset="0"/>
                <a:cs typeface="Times New Roman" panose="02020603050405020304" pitchFamily="18" charset="0"/>
              </a:rPr>
              <a:t>                           229301587</a:t>
            </a:r>
            <a:endParaRPr lang="en-IN" sz="1400" b="1" dirty="0">
              <a:latin typeface="Tenorite" panose="00000500000000000000" pitchFamily="2"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59242D7B-C604-D2D4-5E99-77ECCE392E6F}"/>
              </a:ext>
            </a:extLst>
          </p:cNvPr>
          <p:cNvSpPr txBox="1"/>
          <p:nvPr/>
        </p:nvSpPr>
        <p:spPr>
          <a:xfrm>
            <a:off x="-183715" y="4931178"/>
            <a:ext cx="6093912" cy="975845"/>
          </a:xfrm>
          <a:prstGeom prst="rect">
            <a:avLst/>
          </a:prstGeom>
          <a:noFill/>
        </p:spPr>
        <p:txBody>
          <a:bodyPr wrap="square">
            <a:spAutoFit/>
          </a:bodyPr>
          <a:lstStyle/>
          <a:p>
            <a:pPr algn="ctr">
              <a:lnSpc>
                <a:spcPct val="107000"/>
              </a:lnSpc>
              <a:spcAft>
                <a:spcPts val="800"/>
              </a:spcAft>
            </a:pPr>
            <a:r>
              <a:rPr lang="en-IN" sz="1400" b="1" dirty="0">
                <a:solidFill>
                  <a:schemeClr val="accent1">
                    <a:lumMod val="75000"/>
                  </a:schemeClr>
                </a:solidFill>
                <a:latin typeface="Tenorite" panose="00000500000000000000" pitchFamily="2" charset="0"/>
                <a:ea typeface="Calibri" panose="020F0502020204030204" pitchFamily="34" charset="0"/>
                <a:cs typeface="Times New Roman" panose="02020603050405020304" pitchFamily="18" charset="0"/>
              </a:rPr>
              <a:t>Under the Guidance of</a:t>
            </a:r>
            <a:endParaRPr lang="en-IN" sz="1400" b="1" dirty="0">
              <a:solidFill>
                <a:schemeClr val="accent1">
                  <a:lumMod val="75000"/>
                </a:schemeClr>
              </a:solidFill>
              <a:effectLst/>
              <a:latin typeface="Tenorite" panose="00000500000000000000" pitchFamily="2" charset="0"/>
              <a:ea typeface="Calibri" panose="020F0502020204030204" pitchFamily="34" charset="0"/>
              <a:cs typeface="Times New Roman" panose="02020603050405020304" pitchFamily="18" charset="0"/>
            </a:endParaRPr>
          </a:p>
          <a:p>
            <a:pPr algn="ctr">
              <a:lnSpc>
                <a:spcPct val="107000"/>
              </a:lnSpc>
              <a:spcAft>
                <a:spcPts val="800"/>
              </a:spcAft>
            </a:pPr>
            <a:r>
              <a:rPr lang="en-US" sz="1400" dirty="0">
                <a:effectLst/>
                <a:latin typeface="Tenorite" panose="00000500000000000000" pitchFamily="2" charset="0"/>
                <a:ea typeface="Calibri" panose="020F0502020204030204" pitchFamily="34" charset="0"/>
                <a:cs typeface="Times New Roman" panose="02020603050405020304" pitchFamily="18" charset="0"/>
              </a:rPr>
              <a:t>Dr. </a:t>
            </a:r>
            <a:r>
              <a:rPr lang="en-US" sz="1400" dirty="0">
                <a:latin typeface="Tenorite" panose="00000500000000000000" pitchFamily="2" charset="0"/>
                <a:ea typeface="Calibri" panose="020F0502020204030204" pitchFamily="34" charset="0"/>
                <a:cs typeface="Times New Roman" panose="02020603050405020304" pitchFamily="18" charset="0"/>
              </a:rPr>
              <a:t>……………….</a:t>
            </a:r>
            <a:endParaRPr lang="en-IN" sz="1400" dirty="0">
              <a:effectLst/>
              <a:latin typeface="Tenorite" panose="00000500000000000000" pitchFamily="2" charset="0"/>
              <a:ea typeface="Calibri" panose="020F0502020204030204" pitchFamily="34" charset="0"/>
              <a:cs typeface="Times New Roman" panose="02020603050405020304" pitchFamily="18" charset="0"/>
            </a:endParaRPr>
          </a:p>
          <a:p>
            <a:pPr algn="ctr">
              <a:lnSpc>
                <a:spcPct val="107000"/>
              </a:lnSpc>
              <a:spcAft>
                <a:spcPts val="800"/>
              </a:spcAft>
            </a:pPr>
            <a:r>
              <a:rPr lang="en-US" sz="1400" dirty="0">
                <a:effectLst/>
                <a:latin typeface="Tenorite" panose="00000500000000000000" pitchFamily="2" charset="0"/>
                <a:ea typeface="Calibri" panose="020F0502020204030204" pitchFamily="34" charset="0"/>
                <a:cs typeface="Times New Roman" panose="02020603050405020304" pitchFamily="18" charset="0"/>
              </a:rPr>
              <a:t>Professor, Dept. of </a:t>
            </a:r>
            <a:r>
              <a:rPr lang="en-US" sz="1400" dirty="0">
                <a:latin typeface="Tenorite" panose="00000500000000000000" pitchFamily="2" charset="0"/>
                <a:ea typeface="Calibri" panose="020F0502020204030204" pitchFamily="34" charset="0"/>
                <a:cs typeface="Times New Roman" panose="02020603050405020304" pitchFamily="18" charset="0"/>
              </a:rPr>
              <a:t>CSE</a:t>
            </a:r>
            <a:endParaRPr lang="en-IN" sz="1400" dirty="0">
              <a:effectLst/>
              <a:latin typeface="Tenorite" panose="00000500000000000000" pitchFamily="2" charset="0"/>
              <a:ea typeface="Calibri" panose="020F0502020204030204" pitchFamily="34" charset="0"/>
              <a:cs typeface="Times New Roman" panose="02020603050405020304" pitchFamily="18" charset="0"/>
            </a:endParaRPr>
          </a:p>
        </p:txBody>
      </p:sp>
      <p:sp>
        <p:nvSpPr>
          <p:cNvPr id="9" name="Date Placeholder 8">
            <a:extLst>
              <a:ext uri="{FF2B5EF4-FFF2-40B4-BE49-F238E27FC236}">
                <a16:creationId xmlns:a16="http://schemas.microsoft.com/office/drawing/2014/main" id="{8919E939-BF2B-13B1-CF29-1B8EE1C331D5}"/>
              </a:ext>
            </a:extLst>
          </p:cNvPr>
          <p:cNvSpPr>
            <a:spLocks noGrp="1"/>
          </p:cNvSpPr>
          <p:nvPr>
            <p:ph type="dt" sz="half" idx="10"/>
          </p:nvPr>
        </p:nvSpPr>
        <p:spPr/>
        <p:txBody>
          <a:bodyPr/>
          <a:lstStyle/>
          <a:p>
            <a:fld id="{EC1F104B-B08A-49B2-BB7D-F105C94163A4}" type="datetime1">
              <a:rPr lang="en-IN" b="1" smtClean="0">
                <a:solidFill>
                  <a:schemeClr val="accent2">
                    <a:lumMod val="75000"/>
                  </a:schemeClr>
                </a:solidFill>
                <a:latin typeface="Tenorite" panose="00000500000000000000" pitchFamily="2" charset="0"/>
              </a:rPr>
              <a:t>16-04-2025</a:t>
            </a:fld>
            <a:endParaRPr lang="en-IN" b="1" dirty="0">
              <a:solidFill>
                <a:schemeClr val="accent2">
                  <a:lumMod val="75000"/>
                </a:schemeClr>
              </a:solidFill>
              <a:latin typeface="Tenorite" panose="00000500000000000000" pitchFamily="2" charset="0"/>
            </a:endParaRPr>
          </a:p>
        </p:txBody>
      </p:sp>
      <p:sp>
        <p:nvSpPr>
          <p:cNvPr id="10" name="Footer Placeholder 9">
            <a:extLst>
              <a:ext uri="{FF2B5EF4-FFF2-40B4-BE49-F238E27FC236}">
                <a16:creationId xmlns:a16="http://schemas.microsoft.com/office/drawing/2014/main" id="{7614C566-6232-F754-376E-787253088442}"/>
              </a:ext>
            </a:extLst>
          </p:cNvPr>
          <p:cNvSpPr>
            <a:spLocks noGrp="1"/>
          </p:cNvSpPr>
          <p:nvPr>
            <p:ph type="ftr" sz="quarter" idx="11"/>
          </p:nvPr>
        </p:nvSpPr>
        <p:spPr>
          <a:xfrm>
            <a:off x="4038600" y="6368876"/>
            <a:ext cx="4114800" cy="365125"/>
          </a:xfrm>
        </p:spPr>
        <p:txBody>
          <a:bodyPr/>
          <a:lstStyle/>
          <a:p>
            <a:r>
              <a:rPr lang="en-IN" b="1" dirty="0">
                <a:solidFill>
                  <a:schemeClr val="accent2">
                    <a:lumMod val="75000"/>
                  </a:schemeClr>
                </a:solidFill>
                <a:latin typeface="Tenorite" panose="00000500000000000000" pitchFamily="2" charset="0"/>
              </a:rPr>
              <a:t>Department of </a:t>
            </a:r>
            <a:r>
              <a:rPr lang="en-IN" b="1" dirty="0">
                <a:latin typeface="Tenorite" panose="00000500000000000000" pitchFamily="2" charset="0"/>
              </a:rPr>
              <a:t>CSE</a:t>
            </a:r>
            <a:endParaRPr lang="en-IN" b="1" dirty="0">
              <a:solidFill>
                <a:schemeClr val="accent2">
                  <a:lumMod val="75000"/>
                </a:schemeClr>
              </a:solidFill>
              <a:latin typeface="Tenorite" panose="00000500000000000000" pitchFamily="2" charset="0"/>
            </a:endParaRPr>
          </a:p>
        </p:txBody>
      </p:sp>
      <p:sp>
        <p:nvSpPr>
          <p:cNvPr id="11" name="TextBox 10">
            <a:extLst>
              <a:ext uri="{FF2B5EF4-FFF2-40B4-BE49-F238E27FC236}">
                <a16:creationId xmlns:a16="http://schemas.microsoft.com/office/drawing/2014/main" id="{D24C8DAE-B2F5-7EBD-28A8-097AEC970639}"/>
              </a:ext>
            </a:extLst>
          </p:cNvPr>
          <p:cNvSpPr txBox="1"/>
          <p:nvPr/>
        </p:nvSpPr>
        <p:spPr>
          <a:xfrm>
            <a:off x="3814916" y="1120878"/>
            <a:ext cx="4611329"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 End-Term Project Presentation </a:t>
            </a:r>
          </a:p>
          <a:p>
            <a:pPr algn="ctr"/>
            <a:r>
              <a:rPr lang="en-IN" sz="2400" b="1" dirty="0">
                <a:latin typeface="Times New Roman" panose="02020603050405020304" pitchFamily="18" charset="0"/>
                <a:cs typeface="Times New Roman" panose="02020603050405020304" pitchFamily="18" charset="0"/>
              </a:rPr>
              <a:t>On </a:t>
            </a:r>
          </a:p>
        </p:txBody>
      </p:sp>
    </p:spTree>
    <p:extLst>
      <p:ext uri="{BB962C8B-B14F-4D97-AF65-F5344CB8AC3E}">
        <p14:creationId xmlns:p14="http://schemas.microsoft.com/office/powerpoint/2010/main" val="1782261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9118A1E-705E-7974-29B5-A9F772BD69F5}"/>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CE235363-DE93-8541-9B98-693397B575AB}"/>
              </a:ext>
            </a:extLst>
          </p:cNvPr>
          <p:cNvSpPr>
            <a:spLocks noGrp="1"/>
          </p:cNvSpPr>
          <p:nvPr>
            <p:ph type="ftr" sz="quarter" idx="11"/>
          </p:nvPr>
        </p:nvSpPr>
        <p:spPr/>
        <p:txBody>
          <a:bodyPr/>
          <a:lstStyle/>
          <a:p>
            <a:r>
              <a:rPr lang="en-IN" dirty="0"/>
              <a:t>Department of CSE </a:t>
            </a:r>
          </a:p>
        </p:txBody>
      </p:sp>
      <p:sp>
        <p:nvSpPr>
          <p:cNvPr id="6" name="TextBox 5">
            <a:extLst>
              <a:ext uri="{FF2B5EF4-FFF2-40B4-BE49-F238E27FC236}">
                <a16:creationId xmlns:a16="http://schemas.microsoft.com/office/drawing/2014/main" id="{E11DEBD9-0A3A-8C63-D8C7-DBCBB04268D7}"/>
              </a:ext>
            </a:extLst>
          </p:cNvPr>
          <p:cNvSpPr txBox="1"/>
          <p:nvPr/>
        </p:nvSpPr>
        <p:spPr>
          <a:xfrm>
            <a:off x="331656" y="1265129"/>
            <a:ext cx="5968935" cy="4647426"/>
          </a:xfrm>
          <a:prstGeom prst="rect">
            <a:avLst/>
          </a:prstGeom>
          <a:noFill/>
        </p:spPr>
        <p:txBody>
          <a:bodyPr wrap="square" rtlCol="0">
            <a:spAutoFit/>
          </a:bodyPr>
          <a:lstStyle/>
          <a:p>
            <a:r>
              <a:rPr lang="en-IN" sz="2000" b="1" dirty="0">
                <a:solidFill>
                  <a:schemeClr val="tx2">
                    <a:lumMod val="75000"/>
                  </a:schemeClr>
                </a:solidFill>
                <a:latin typeface="Tenorite" panose="00000500000000000000" pitchFamily="2" charset="0"/>
              </a:rPr>
              <a:t>Table of Content:</a:t>
            </a:r>
          </a:p>
          <a:p>
            <a:endParaRPr lang="en-IN" b="1" dirty="0">
              <a:solidFill>
                <a:schemeClr val="tx2">
                  <a:lumMod val="75000"/>
                </a:schemeClr>
              </a:solidFill>
              <a:latin typeface="Tenorite" panose="00000500000000000000" pitchFamily="2" charset="0"/>
            </a:endParaRPr>
          </a:p>
          <a:p>
            <a:pPr marL="342900" indent="-342900">
              <a:lnSpc>
                <a:spcPct val="150000"/>
              </a:lnSpc>
              <a:buAutoNum type="arabicPeriod"/>
            </a:pPr>
            <a:r>
              <a:rPr lang="en-IN" sz="1600" b="1" dirty="0">
                <a:solidFill>
                  <a:schemeClr val="tx2">
                    <a:lumMod val="75000"/>
                  </a:schemeClr>
                </a:solidFill>
                <a:latin typeface="Tenorite" panose="00000500000000000000" pitchFamily="2" charset="0"/>
              </a:rPr>
              <a:t>Introduction </a:t>
            </a:r>
          </a:p>
          <a:p>
            <a:pPr marL="342900" indent="-342900">
              <a:lnSpc>
                <a:spcPct val="150000"/>
              </a:lnSpc>
              <a:buAutoNum type="arabicPeriod"/>
            </a:pPr>
            <a:r>
              <a:rPr lang="en-IN" sz="1600" b="1" dirty="0">
                <a:solidFill>
                  <a:schemeClr val="tx2">
                    <a:lumMod val="75000"/>
                  </a:schemeClr>
                </a:solidFill>
                <a:latin typeface="Tenorite" panose="00000500000000000000" pitchFamily="2" charset="0"/>
              </a:rPr>
              <a:t>Literature review</a:t>
            </a:r>
          </a:p>
          <a:p>
            <a:pPr marL="342900" indent="-342900">
              <a:lnSpc>
                <a:spcPct val="150000"/>
              </a:lnSpc>
              <a:buAutoNum type="arabicPeriod"/>
            </a:pPr>
            <a:r>
              <a:rPr lang="en-IN" sz="1600" b="1" dirty="0">
                <a:solidFill>
                  <a:schemeClr val="tx2">
                    <a:lumMod val="75000"/>
                  </a:schemeClr>
                </a:solidFill>
                <a:latin typeface="Tenorite" panose="00000500000000000000" pitchFamily="2" charset="0"/>
              </a:rPr>
              <a:t>Research Gaps</a:t>
            </a:r>
          </a:p>
          <a:p>
            <a:pPr marL="342900" indent="-342900">
              <a:lnSpc>
                <a:spcPct val="150000"/>
              </a:lnSpc>
              <a:buAutoNum type="arabicPeriod"/>
            </a:pPr>
            <a:r>
              <a:rPr lang="en-IN" sz="1600" b="1" dirty="0">
                <a:solidFill>
                  <a:schemeClr val="tx2">
                    <a:lumMod val="75000"/>
                  </a:schemeClr>
                </a:solidFill>
                <a:latin typeface="Tenorite" panose="00000500000000000000" pitchFamily="2" charset="0"/>
              </a:rPr>
              <a:t>Problem Statement</a:t>
            </a:r>
          </a:p>
          <a:p>
            <a:pPr marL="342900" indent="-342900">
              <a:lnSpc>
                <a:spcPct val="150000"/>
              </a:lnSpc>
              <a:buAutoNum type="arabicPeriod"/>
            </a:pPr>
            <a:r>
              <a:rPr lang="en-IN" sz="1600" b="1" dirty="0">
                <a:solidFill>
                  <a:schemeClr val="tx2">
                    <a:lumMod val="75000"/>
                  </a:schemeClr>
                </a:solidFill>
                <a:latin typeface="Tenorite" panose="00000500000000000000" pitchFamily="2" charset="0"/>
              </a:rPr>
              <a:t>Objectives</a:t>
            </a:r>
          </a:p>
          <a:p>
            <a:pPr marL="342900" indent="-342900">
              <a:lnSpc>
                <a:spcPct val="150000"/>
              </a:lnSpc>
              <a:buAutoNum type="arabicPeriod"/>
            </a:pPr>
            <a:r>
              <a:rPr lang="en-IN" sz="1600" b="1" dirty="0">
                <a:solidFill>
                  <a:schemeClr val="tx2">
                    <a:lumMod val="75000"/>
                  </a:schemeClr>
                </a:solidFill>
                <a:latin typeface="Tenorite" panose="00000500000000000000" pitchFamily="2" charset="0"/>
              </a:rPr>
              <a:t>Methodology and Results </a:t>
            </a:r>
          </a:p>
          <a:p>
            <a:pPr marL="342900" indent="-342900">
              <a:lnSpc>
                <a:spcPct val="150000"/>
              </a:lnSpc>
              <a:buAutoNum type="arabicPeriod"/>
            </a:pPr>
            <a:r>
              <a:rPr lang="en-IN" sz="1600" b="1" dirty="0">
                <a:solidFill>
                  <a:schemeClr val="tx2">
                    <a:lumMod val="75000"/>
                  </a:schemeClr>
                </a:solidFill>
                <a:latin typeface="Tenorite" panose="00000500000000000000" pitchFamily="2" charset="0"/>
              </a:rPr>
              <a:t>Conclusion  </a:t>
            </a:r>
          </a:p>
          <a:p>
            <a:pPr marL="342900" indent="-342900">
              <a:lnSpc>
                <a:spcPct val="150000"/>
              </a:lnSpc>
              <a:buAutoNum type="arabicPeriod"/>
            </a:pPr>
            <a:r>
              <a:rPr lang="en-IN" sz="1600" b="1" dirty="0">
                <a:solidFill>
                  <a:schemeClr val="tx2">
                    <a:lumMod val="75000"/>
                  </a:schemeClr>
                </a:solidFill>
                <a:latin typeface="Tenorite" panose="00000500000000000000" pitchFamily="2" charset="0"/>
              </a:rPr>
              <a:t>Future Scope  </a:t>
            </a:r>
          </a:p>
          <a:p>
            <a:pPr marL="342900" indent="-342900">
              <a:lnSpc>
                <a:spcPct val="150000"/>
              </a:lnSpc>
              <a:buAutoNum type="arabicPeriod"/>
            </a:pPr>
            <a:r>
              <a:rPr lang="en-IN" sz="1600" b="1" dirty="0">
                <a:solidFill>
                  <a:schemeClr val="tx2">
                    <a:lumMod val="75000"/>
                  </a:schemeClr>
                </a:solidFill>
                <a:latin typeface="Tenorite" panose="00000500000000000000" pitchFamily="2" charset="0"/>
              </a:rPr>
              <a:t>References</a:t>
            </a:r>
          </a:p>
          <a:p>
            <a:pPr marL="342900" indent="-342900">
              <a:lnSpc>
                <a:spcPct val="150000"/>
              </a:lnSpc>
              <a:buAutoNum type="arabicPeriod"/>
            </a:pPr>
            <a:r>
              <a:rPr lang="en-IN" sz="1600" b="1" dirty="0">
                <a:solidFill>
                  <a:schemeClr val="tx2">
                    <a:lumMod val="75000"/>
                  </a:schemeClr>
                </a:solidFill>
                <a:latin typeface="Tenorite" panose="00000500000000000000" pitchFamily="2" charset="0"/>
              </a:rPr>
              <a:t> Outcome </a:t>
            </a:r>
          </a:p>
          <a:p>
            <a:pPr marL="342900" indent="-342900">
              <a:buAutoNum type="arabicPeriod"/>
            </a:pPr>
            <a:endParaRPr lang="en-IN" b="1" dirty="0">
              <a:solidFill>
                <a:schemeClr val="accent2">
                  <a:lumMod val="75000"/>
                </a:schemeClr>
              </a:solidFill>
            </a:endParaRPr>
          </a:p>
        </p:txBody>
      </p:sp>
    </p:spTree>
    <p:extLst>
      <p:ext uri="{BB962C8B-B14F-4D97-AF65-F5344CB8AC3E}">
        <p14:creationId xmlns:p14="http://schemas.microsoft.com/office/powerpoint/2010/main" val="7155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C5305F6-6F66-E37A-B7B3-4197D1812F1E}"/>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988CB87C-3BC7-002D-AA59-40A88082E755}"/>
              </a:ext>
            </a:extLst>
          </p:cNvPr>
          <p:cNvSpPr>
            <a:spLocks noGrp="1"/>
          </p:cNvSpPr>
          <p:nvPr>
            <p:ph type="ftr" sz="quarter" idx="11"/>
          </p:nvPr>
        </p:nvSpPr>
        <p:spPr/>
        <p:txBody>
          <a:bodyPr/>
          <a:lstStyle/>
          <a:p>
            <a:r>
              <a:rPr lang="en-IN" dirty="0"/>
              <a:t>Department of CSE</a:t>
            </a:r>
          </a:p>
        </p:txBody>
      </p:sp>
      <p:sp>
        <p:nvSpPr>
          <p:cNvPr id="7" name="TextBox 6">
            <a:extLst>
              <a:ext uri="{FF2B5EF4-FFF2-40B4-BE49-F238E27FC236}">
                <a16:creationId xmlns:a16="http://schemas.microsoft.com/office/drawing/2014/main" id="{B27D3D01-4D3C-A178-9583-F60F3FD4FF98}"/>
              </a:ext>
            </a:extLst>
          </p:cNvPr>
          <p:cNvSpPr txBox="1"/>
          <p:nvPr/>
        </p:nvSpPr>
        <p:spPr>
          <a:xfrm>
            <a:off x="275305" y="1277243"/>
            <a:ext cx="7654986" cy="461665"/>
          </a:xfrm>
          <a:prstGeom prst="rect">
            <a:avLst/>
          </a:prstGeom>
          <a:noFill/>
        </p:spPr>
        <p:txBody>
          <a:bodyPr wrap="square">
            <a:spAutoFit/>
          </a:bodyPr>
          <a:lstStyle/>
          <a:p>
            <a:r>
              <a:rPr lang="en-IN" sz="2400" b="1" dirty="0">
                <a:solidFill>
                  <a:schemeClr val="tx2">
                    <a:lumMod val="75000"/>
                  </a:schemeClr>
                </a:solidFill>
                <a:latin typeface="Tenorite" panose="00000500000000000000" pitchFamily="2" charset="0"/>
              </a:rPr>
              <a:t>Introduction </a:t>
            </a:r>
          </a:p>
        </p:txBody>
      </p:sp>
      <p:sp>
        <p:nvSpPr>
          <p:cNvPr id="6" name="TextBox 5">
            <a:extLst>
              <a:ext uri="{FF2B5EF4-FFF2-40B4-BE49-F238E27FC236}">
                <a16:creationId xmlns:a16="http://schemas.microsoft.com/office/drawing/2014/main" id="{AFBC201E-F30A-BB5F-8E94-63FEDD6447C7}"/>
              </a:ext>
            </a:extLst>
          </p:cNvPr>
          <p:cNvSpPr txBox="1"/>
          <p:nvPr/>
        </p:nvSpPr>
        <p:spPr>
          <a:xfrm>
            <a:off x="275304" y="1847461"/>
            <a:ext cx="5686957" cy="2831544"/>
          </a:xfrm>
          <a:prstGeom prst="rect">
            <a:avLst/>
          </a:prstGeom>
          <a:noFill/>
        </p:spPr>
        <p:txBody>
          <a:bodyPr wrap="square" rtlCol="0">
            <a:spAutoFit/>
          </a:bodyPr>
          <a:lstStyle/>
          <a:p>
            <a:pPr algn="just"/>
            <a:r>
              <a:rPr lang="en-US" sz="1600" dirty="0">
                <a:solidFill>
                  <a:srgbClr val="000000"/>
                </a:solidFill>
                <a:latin typeface="Times New Roman"/>
                <a:ea typeface="Times New Roman"/>
                <a:cs typeface="Times New Roman"/>
                <a:sym typeface="Times New Roman"/>
              </a:rPr>
              <a:t>The surge in online videos makes content discovery challenging. Video summarization helps by condensing videos while retaining key information. Traditional extractive methods struggle with contextual richness, making abstractive summarization more effective. This paper explores using </a:t>
            </a:r>
            <a:r>
              <a:rPr lang="en-US" sz="1600" dirty="0" err="1">
                <a:solidFill>
                  <a:srgbClr val="000000"/>
                </a:solidFill>
                <a:latin typeface="Times New Roman"/>
                <a:ea typeface="Times New Roman"/>
                <a:cs typeface="Times New Roman"/>
                <a:sym typeface="Times New Roman"/>
              </a:rPr>
              <a:t>LangChain</a:t>
            </a:r>
            <a:r>
              <a:rPr lang="en-US" sz="1600" dirty="0">
                <a:solidFill>
                  <a:srgbClr val="000000"/>
                </a:solidFill>
                <a:latin typeface="Times New Roman"/>
                <a:ea typeface="Times New Roman"/>
                <a:cs typeface="Times New Roman"/>
                <a:sym typeface="Times New Roman"/>
              </a:rPr>
              <a:t>, a framework for managing multiple LLMs, to improve abstractive video summarization. By leveraging </a:t>
            </a:r>
            <a:r>
              <a:rPr lang="en-US" sz="1600" dirty="0" err="1">
                <a:solidFill>
                  <a:srgbClr val="000000"/>
                </a:solidFill>
                <a:latin typeface="Times New Roman"/>
                <a:ea typeface="Times New Roman"/>
                <a:cs typeface="Times New Roman"/>
                <a:sym typeface="Times New Roman"/>
              </a:rPr>
              <a:t>LangChain</a:t>
            </a:r>
            <a:r>
              <a:rPr lang="en-US" sz="1600" dirty="0">
                <a:solidFill>
                  <a:srgbClr val="000000"/>
                </a:solidFill>
                <a:latin typeface="Times New Roman"/>
                <a:ea typeface="Times New Roman"/>
                <a:cs typeface="Times New Roman"/>
                <a:sym typeface="Times New Roman"/>
              </a:rPr>
              <a:t>, the aim is to generate concise, informative, and contextually accurate summaries, enhancing accessibility and efficiency in video content consumption.</a:t>
            </a:r>
          </a:p>
          <a:p>
            <a:endParaRPr lang="en-IN" dirty="0"/>
          </a:p>
        </p:txBody>
      </p:sp>
      <p:sp>
        <p:nvSpPr>
          <p:cNvPr id="9" name="Freeform 12">
            <a:extLst>
              <a:ext uri="{FF2B5EF4-FFF2-40B4-BE49-F238E27FC236}">
                <a16:creationId xmlns:a16="http://schemas.microsoft.com/office/drawing/2014/main" id="{129B88FF-122B-D814-315E-166E54E9BD6D}"/>
              </a:ext>
            </a:extLst>
          </p:cNvPr>
          <p:cNvSpPr/>
          <p:nvPr/>
        </p:nvSpPr>
        <p:spPr>
          <a:xfrm>
            <a:off x="6775981" y="2093683"/>
            <a:ext cx="3694471" cy="2585323"/>
          </a:xfrm>
          <a:custGeom>
            <a:avLst/>
            <a:gdLst/>
            <a:ahLst/>
            <a:cxnLst/>
            <a:rect l="l" t="t" r="r" b="b"/>
            <a:pathLst>
              <a:path w="5372430" h="3594476">
                <a:moveTo>
                  <a:pt x="0" y="0"/>
                </a:moveTo>
                <a:lnTo>
                  <a:pt x="5372430" y="0"/>
                </a:lnTo>
                <a:lnTo>
                  <a:pt x="5372430" y="3594476"/>
                </a:lnTo>
                <a:lnTo>
                  <a:pt x="0" y="3594476"/>
                </a:lnTo>
                <a:lnTo>
                  <a:pt x="0" y="0"/>
                </a:lnTo>
                <a:close/>
              </a:path>
            </a:pathLst>
          </a:custGeom>
          <a:blipFill>
            <a:blip r:embed="rId2"/>
            <a:stretch>
              <a:fillRect l="-9274" r="-9669"/>
            </a:stretch>
          </a:blipFill>
        </p:spPr>
        <p:txBody>
          <a:bodyPr/>
          <a:lstStyle/>
          <a:p>
            <a:endParaRPr lang="en-IN"/>
          </a:p>
        </p:txBody>
      </p:sp>
    </p:spTree>
    <p:extLst>
      <p:ext uri="{BB962C8B-B14F-4D97-AF65-F5344CB8AC3E}">
        <p14:creationId xmlns:p14="http://schemas.microsoft.com/office/powerpoint/2010/main" val="1595287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D7527-8F6B-CB24-C703-7901578409C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8B6807B-A666-03E1-1793-0B619232BA60}"/>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7C9CDC3C-8E6B-FD99-D10C-057BCBA3DCD3}"/>
              </a:ext>
            </a:extLst>
          </p:cNvPr>
          <p:cNvSpPr>
            <a:spLocks noGrp="1"/>
          </p:cNvSpPr>
          <p:nvPr>
            <p:ph type="ftr" sz="quarter" idx="11"/>
          </p:nvPr>
        </p:nvSpPr>
        <p:spPr/>
        <p:txBody>
          <a:bodyPr/>
          <a:lstStyle/>
          <a:p>
            <a:r>
              <a:rPr lang="en-IN" dirty="0"/>
              <a:t>Department of CSE</a:t>
            </a:r>
          </a:p>
        </p:txBody>
      </p:sp>
      <p:sp>
        <p:nvSpPr>
          <p:cNvPr id="7" name="TextBox 6">
            <a:extLst>
              <a:ext uri="{FF2B5EF4-FFF2-40B4-BE49-F238E27FC236}">
                <a16:creationId xmlns:a16="http://schemas.microsoft.com/office/drawing/2014/main" id="{72958917-096C-9DE6-6B05-4D4CDF48FDB8}"/>
              </a:ext>
            </a:extLst>
          </p:cNvPr>
          <p:cNvSpPr txBox="1"/>
          <p:nvPr/>
        </p:nvSpPr>
        <p:spPr>
          <a:xfrm>
            <a:off x="250151" y="1228081"/>
            <a:ext cx="6475113" cy="461665"/>
          </a:xfrm>
          <a:prstGeom prst="rect">
            <a:avLst/>
          </a:prstGeom>
          <a:noFill/>
        </p:spPr>
        <p:txBody>
          <a:bodyPr wrap="square">
            <a:spAutoFit/>
          </a:bodyPr>
          <a:lstStyle/>
          <a:p>
            <a:r>
              <a:rPr lang="en-IN" sz="2400" b="1" dirty="0">
                <a:solidFill>
                  <a:schemeClr val="tx2">
                    <a:lumMod val="75000"/>
                  </a:schemeClr>
                </a:solidFill>
                <a:latin typeface="Tenorite" panose="00000500000000000000" pitchFamily="2" charset="0"/>
              </a:rPr>
              <a:t>Problem Statement</a:t>
            </a:r>
          </a:p>
        </p:txBody>
      </p:sp>
      <p:sp>
        <p:nvSpPr>
          <p:cNvPr id="2" name="TextBox 1">
            <a:extLst>
              <a:ext uri="{FF2B5EF4-FFF2-40B4-BE49-F238E27FC236}">
                <a16:creationId xmlns:a16="http://schemas.microsoft.com/office/drawing/2014/main" id="{A0873AAE-F5A9-70DE-BE51-FFE5E43337E2}"/>
              </a:ext>
            </a:extLst>
          </p:cNvPr>
          <p:cNvSpPr txBox="1"/>
          <p:nvPr/>
        </p:nvSpPr>
        <p:spPr>
          <a:xfrm>
            <a:off x="201722" y="1689746"/>
            <a:ext cx="5301564" cy="3077766"/>
          </a:xfrm>
          <a:prstGeom prst="rect">
            <a:avLst/>
          </a:prstGeom>
          <a:noFill/>
        </p:spPr>
        <p:txBody>
          <a:bodyPr wrap="square" rtlCol="0">
            <a:spAutoFit/>
          </a:bodyPr>
          <a:lstStyle/>
          <a:p>
            <a:r>
              <a:rPr lang="en-US" dirty="0"/>
              <a:t> </a:t>
            </a:r>
            <a:r>
              <a:rPr lang="en-US" sz="1600" dirty="0">
                <a:latin typeface="Times New Roman" panose="02020603050405020304" pitchFamily="18" charset="0"/>
                <a:cs typeface="Times New Roman" panose="02020603050405020304" pitchFamily="18" charset="0"/>
              </a:rPr>
              <a:t>Users face difficulties when trying to watch long online videos efficiently because of the fast-growing video content on  the internet. Extractive summarization approaches tend to overlook both narrative elements and contextual information and emotional depth  in their summaries. The research develops an AI-powered video summarization platform which combines </a:t>
            </a:r>
            <a:r>
              <a:rPr lang="en-US" sz="1600" dirty="0" err="1">
                <a:latin typeface="Times New Roman" panose="02020603050405020304" pitchFamily="18" charset="0"/>
                <a:cs typeface="Times New Roman" panose="02020603050405020304" pitchFamily="18" charset="0"/>
              </a:rPr>
              <a:t>LangChain</a:t>
            </a:r>
            <a:r>
              <a:rPr lang="en-US" sz="1600" dirty="0">
                <a:latin typeface="Times New Roman" panose="02020603050405020304" pitchFamily="18" charset="0"/>
                <a:cs typeface="Times New Roman" panose="02020603050405020304" pitchFamily="18" charset="0"/>
              </a:rPr>
              <a:t> and  LaMini-Flan-T5 to produce superior abstractive summaries from video content. The system retrieves  video transcripts before using transformer-based LLMs for processing and delivers an interface that enables users to query  through natural language while playing back audio content.</a:t>
            </a:r>
            <a:endParaRPr lang="en-IN" sz="1600" dirty="0">
              <a:latin typeface="Times New Roman" panose="02020603050405020304" pitchFamily="18" charset="0"/>
              <a:cs typeface="Times New Roman" panose="02020603050405020304" pitchFamily="18" charset="0"/>
            </a:endParaRPr>
          </a:p>
        </p:txBody>
      </p:sp>
      <p:sp>
        <p:nvSpPr>
          <p:cNvPr id="3" name="Freeform 11">
            <a:extLst>
              <a:ext uri="{FF2B5EF4-FFF2-40B4-BE49-F238E27FC236}">
                <a16:creationId xmlns:a16="http://schemas.microsoft.com/office/drawing/2014/main" id="{F745D45B-D320-B785-E0DB-CACDB75BBCC9}"/>
              </a:ext>
            </a:extLst>
          </p:cNvPr>
          <p:cNvSpPr/>
          <p:nvPr/>
        </p:nvSpPr>
        <p:spPr>
          <a:xfrm>
            <a:off x="5900728" y="1870566"/>
            <a:ext cx="6041121" cy="3124489"/>
          </a:xfrm>
          <a:custGeom>
            <a:avLst/>
            <a:gdLst/>
            <a:ahLst/>
            <a:cxnLst/>
            <a:rect l="l" t="t" r="r" b="b"/>
            <a:pathLst>
              <a:path w="15434350" h="6540306">
                <a:moveTo>
                  <a:pt x="0" y="0"/>
                </a:moveTo>
                <a:lnTo>
                  <a:pt x="15434349" y="0"/>
                </a:lnTo>
                <a:lnTo>
                  <a:pt x="15434349" y="6540305"/>
                </a:lnTo>
                <a:lnTo>
                  <a:pt x="0" y="6540305"/>
                </a:lnTo>
                <a:lnTo>
                  <a:pt x="0" y="0"/>
                </a:lnTo>
                <a:close/>
              </a:path>
            </a:pathLst>
          </a:custGeom>
          <a:blipFill>
            <a:blip r:embed="rId2"/>
            <a:stretch>
              <a:fillRect/>
            </a:stretch>
          </a:blipFill>
        </p:spPr>
        <p:txBody>
          <a:bodyPr/>
          <a:lstStyle/>
          <a:p>
            <a:endParaRPr lang="en-IN"/>
          </a:p>
        </p:txBody>
      </p:sp>
    </p:spTree>
    <p:extLst>
      <p:ext uri="{BB962C8B-B14F-4D97-AF65-F5344CB8AC3E}">
        <p14:creationId xmlns:p14="http://schemas.microsoft.com/office/powerpoint/2010/main" val="639507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5D86D-4DD7-8A68-13C6-7D2B206E8DC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1506381-147D-0EFD-8E93-C79F02370E84}"/>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D823B0CB-8891-2868-F26F-699DE595C7E4}"/>
              </a:ext>
            </a:extLst>
          </p:cNvPr>
          <p:cNvSpPr>
            <a:spLocks noGrp="1"/>
          </p:cNvSpPr>
          <p:nvPr>
            <p:ph type="ftr" sz="quarter" idx="11"/>
          </p:nvPr>
        </p:nvSpPr>
        <p:spPr/>
        <p:txBody>
          <a:bodyPr/>
          <a:lstStyle/>
          <a:p>
            <a:r>
              <a:rPr lang="en-IN"/>
              <a:t>Department of Information Technology </a:t>
            </a:r>
            <a:endParaRPr lang="en-IN" dirty="0"/>
          </a:p>
        </p:txBody>
      </p:sp>
      <p:sp>
        <p:nvSpPr>
          <p:cNvPr id="7" name="TextBox 6">
            <a:extLst>
              <a:ext uri="{FF2B5EF4-FFF2-40B4-BE49-F238E27FC236}">
                <a16:creationId xmlns:a16="http://schemas.microsoft.com/office/drawing/2014/main" id="{C298E20C-EE2F-BBAF-C193-4B4F1E6B42CA}"/>
              </a:ext>
            </a:extLst>
          </p:cNvPr>
          <p:cNvSpPr txBox="1"/>
          <p:nvPr/>
        </p:nvSpPr>
        <p:spPr>
          <a:xfrm>
            <a:off x="502024" y="1218249"/>
            <a:ext cx="5920696" cy="461665"/>
          </a:xfrm>
          <a:prstGeom prst="rect">
            <a:avLst/>
          </a:prstGeom>
          <a:noFill/>
        </p:spPr>
        <p:txBody>
          <a:bodyPr wrap="square">
            <a:spAutoFit/>
          </a:bodyPr>
          <a:lstStyle/>
          <a:p>
            <a:r>
              <a:rPr lang="en-IN" sz="2400" b="1" dirty="0">
                <a:solidFill>
                  <a:schemeClr val="tx2">
                    <a:lumMod val="75000"/>
                  </a:schemeClr>
                </a:solidFill>
                <a:latin typeface="Tenorite" panose="00000500000000000000" pitchFamily="2" charset="0"/>
              </a:rPr>
              <a:t>Proposed Objectives: </a:t>
            </a:r>
          </a:p>
        </p:txBody>
      </p:sp>
      <p:sp>
        <p:nvSpPr>
          <p:cNvPr id="2" name="TextBox 1">
            <a:extLst>
              <a:ext uri="{FF2B5EF4-FFF2-40B4-BE49-F238E27FC236}">
                <a16:creationId xmlns:a16="http://schemas.microsoft.com/office/drawing/2014/main" id="{9B5387A0-DFD9-8F62-8204-D6A611B6E272}"/>
              </a:ext>
            </a:extLst>
          </p:cNvPr>
          <p:cNvSpPr txBox="1"/>
          <p:nvPr/>
        </p:nvSpPr>
        <p:spPr>
          <a:xfrm>
            <a:off x="502024" y="1679914"/>
            <a:ext cx="10974629" cy="5216813"/>
          </a:xfrm>
          <a:prstGeom prst="rect">
            <a:avLst/>
          </a:prstGeom>
          <a:noFill/>
        </p:spPr>
        <p:txBody>
          <a:bodyPr wrap="square" rtlCol="0">
            <a:spAutoFit/>
          </a:bodyPr>
          <a:lstStyle/>
          <a:p>
            <a:pPr algn="just">
              <a:lnSpc>
                <a:spcPct val="150000"/>
              </a:lnSpc>
            </a:pPr>
            <a:r>
              <a:rPr lang="en-US" b="1" dirty="0"/>
              <a:t>Objective 1 </a:t>
            </a:r>
            <a:r>
              <a:rPr lang="en-US" dirty="0"/>
              <a:t>:</a:t>
            </a:r>
          </a:p>
          <a:p>
            <a:pPr algn="just"/>
            <a:r>
              <a:rPr lang="en-US" sz="1600" dirty="0">
                <a:solidFill>
                  <a:srgbClr val="000000"/>
                </a:solidFill>
                <a:latin typeface="Times New Roman"/>
                <a:ea typeface="Times New Roman"/>
                <a:cs typeface="Times New Roman"/>
                <a:sym typeface="Times New Roman"/>
              </a:rPr>
              <a:t>By combining </a:t>
            </a:r>
            <a:r>
              <a:rPr lang="en-US" sz="1600" dirty="0" err="1">
                <a:solidFill>
                  <a:srgbClr val="000000"/>
                </a:solidFill>
                <a:latin typeface="Times New Roman"/>
                <a:ea typeface="Times New Roman"/>
                <a:cs typeface="Times New Roman"/>
                <a:sym typeface="Times New Roman"/>
              </a:rPr>
              <a:t>OpenAIs</a:t>
            </a:r>
            <a:r>
              <a:rPr lang="en-US" sz="1600" dirty="0">
                <a:solidFill>
                  <a:srgbClr val="000000"/>
                </a:solidFill>
                <a:latin typeface="Times New Roman"/>
                <a:ea typeface="Times New Roman"/>
                <a:cs typeface="Times New Roman"/>
                <a:sym typeface="Times New Roman"/>
              </a:rPr>
              <a:t> language model with an AI powered video summarizer ,through </a:t>
            </a:r>
            <a:r>
              <a:rPr lang="en-US" sz="1600" dirty="0" err="1">
                <a:solidFill>
                  <a:srgbClr val="000000"/>
                </a:solidFill>
                <a:latin typeface="Times New Roman"/>
                <a:ea typeface="Times New Roman"/>
                <a:cs typeface="Times New Roman"/>
                <a:sym typeface="Times New Roman"/>
              </a:rPr>
              <a:t>LangChain</a:t>
            </a:r>
            <a:r>
              <a:rPr lang="en-US" sz="1600" dirty="0">
                <a:solidFill>
                  <a:srgbClr val="000000"/>
                </a:solidFill>
                <a:latin typeface="Times New Roman"/>
                <a:ea typeface="Times New Roman"/>
                <a:cs typeface="Times New Roman"/>
                <a:sym typeface="Times New Roman"/>
              </a:rPr>
              <a:t> technology users can now ask questions, about the summarized video content seamlessly This new feature boosts the systems user friendliness by enabling natural language queries and offering responses derived from the extracted video summaries.</a:t>
            </a:r>
          </a:p>
          <a:p>
            <a:endParaRPr lang="en-US" dirty="0"/>
          </a:p>
          <a:p>
            <a:r>
              <a:rPr lang="en-US" b="1" dirty="0"/>
              <a:t>Objective 2</a:t>
            </a:r>
            <a:r>
              <a:rPr lang="en-US" dirty="0"/>
              <a:t>: </a:t>
            </a:r>
          </a:p>
          <a:p>
            <a:r>
              <a:rPr lang="en-US" sz="1600" dirty="0">
                <a:solidFill>
                  <a:srgbClr val="000000"/>
                </a:solidFill>
                <a:latin typeface="Times New Roman"/>
                <a:ea typeface="Times New Roman"/>
                <a:cs typeface="Times New Roman"/>
                <a:sym typeface="Times New Roman"/>
              </a:rPr>
              <a:t>To ensure the interface is user friendly and straightforward for users to navigate easily we will utilize </a:t>
            </a:r>
            <a:r>
              <a:rPr lang="en-US" sz="1600" dirty="0" err="1">
                <a:solidFill>
                  <a:srgbClr val="000000"/>
                </a:solidFill>
                <a:latin typeface="Times New Roman"/>
                <a:ea typeface="Times New Roman"/>
                <a:cs typeface="Times New Roman"/>
                <a:sym typeface="Times New Roman"/>
              </a:rPr>
              <a:t>Streamlit</a:t>
            </a:r>
            <a:r>
              <a:rPr lang="en-US" sz="1600" dirty="0">
                <a:solidFill>
                  <a:srgbClr val="000000"/>
                </a:solidFill>
                <a:latin typeface="Times New Roman"/>
                <a:ea typeface="Times New Roman"/>
                <a:cs typeface="Times New Roman"/>
                <a:sym typeface="Times New Roman"/>
              </a:rPr>
              <a:t>. This platform enables users to input video URLs access overviews. Listen to the content via the Text, to Speech API.</a:t>
            </a:r>
          </a:p>
          <a:p>
            <a:endParaRPr lang="en-US" dirty="0"/>
          </a:p>
          <a:p>
            <a:r>
              <a:rPr lang="en-US" b="1" dirty="0"/>
              <a:t>Objective 3</a:t>
            </a:r>
            <a:r>
              <a:rPr lang="en-US" dirty="0"/>
              <a:t>:</a:t>
            </a:r>
          </a:p>
          <a:p>
            <a:r>
              <a:rPr lang="en-US" sz="1600" dirty="0">
                <a:latin typeface="Times New Roman" panose="02020603050405020304" pitchFamily="18" charset="0"/>
                <a:cs typeface="Times New Roman" panose="02020603050405020304" pitchFamily="18" charset="0"/>
              </a:rPr>
              <a:t>The goal is to create an AI video summarization tool which uses </a:t>
            </a:r>
            <a:r>
              <a:rPr lang="en-US" sz="1600" dirty="0" err="1">
                <a:latin typeface="Times New Roman" panose="02020603050405020304" pitchFamily="18" charset="0"/>
                <a:cs typeface="Times New Roman" panose="02020603050405020304" pitchFamily="18" charset="0"/>
              </a:rPr>
              <a:t>LangChain</a:t>
            </a:r>
            <a:r>
              <a:rPr lang="en-US" sz="1600" dirty="0">
                <a:latin typeface="Times New Roman" panose="02020603050405020304" pitchFamily="18" charset="0"/>
                <a:cs typeface="Times New Roman" panose="02020603050405020304" pitchFamily="18" charset="0"/>
              </a:rPr>
              <a:t>  and LaMini-Flan-T5 hybrid architecture to produce abstractive summaries that stay aware of  context. The system will process video transcripts, keep semantic coherence and emotional depth, and offer a  user-friendly interface with natural language querying and audio playback so users can easily understand the key points of long  videos.</a:t>
            </a:r>
          </a:p>
          <a:p>
            <a:endParaRPr lang="en-US" dirty="0"/>
          </a:p>
          <a:p>
            <a:endParaRPr lang="en-US" dirty="0"/>
          </a:p>
          <a:p>
            <a:endParaRPr lang="en-US" dirty="0"/>
          </a:p>
          <a:p>
            <a:r>
              <a:rPr lang="en-US" dirty="0"/>
              <a:t>  </a:t>
            </a:r>
          </a:p>
          <a:p>
            <a:endParaRPr lang="en-US" dirty="0"/>
          </a:p>
        </p:txBody>
      </p:sp>
    </p:spTree>
    <p:extLst>
      <p:ext uri="{BB962C8B-B14F-4D97-AF65-F5344CB8AC3E}">
        <p14:creationId xmlns:p14="http://schemas.microsoft.com/office/powerpoint/2010/main" val="3014065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CEA47FF-C184-BD84-3AA6-8B0C755ECAA8}"/>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AFBC2D3B-67D3-FAF3-F3DF-BF03B03AD9BD}"/>
              </a:ext>
            </a:extLst>
          </p:cNvPr>
          <p:cNvSpPr>
            <a:spLocks noGrp="1"/>
          </p:cNvSpPr>
          <p:nvPr>
            <p:ph type="ftr" sz="quarter" idx="11"/>
          </p:nvPr>
        </p:nvSpPr>
        <p:spPr/>
        <p:txBody>
          <a:bodyPr/>
          <a:lstStyle/>
          <a:p>
            <a:r>
              <a:rPr lang="en-IN"/>
              <a:t>Department of Information Technology </a:t>
            </a:r>
            <a:endParaRPr lang="en-IN" dirty="0"/>
          </a:p>
        </p:txBody>
      </p:sp>
      <p:sp>
        <p:nvSpPr>
          <p:cNvPr id="3" name="TextBox 2">
            <a:extLst>
              <a:ext uri="{FF2B5EF4-FFF2-40B4-BE49-F238E27FC236}">
                <a16:creationId xmlns:a16="http://schemas.microsoft.com/office/drawing/2014/main" id="{77AA341F-89DC-806C-34C9-2EA0C34E35BE}"/>
              </a:ext>
            </a:extLst>
          </p:cNvPr>
          <p:cNvSpPr txBox="1"/>
          <p:nvPr/>
        </p:nvSpPr>
        <p:spPr>
          <a:xfrm>
            <a:off x="385482" y="1416632"/>
            <a:ext cx="6096000" cy="369332"/>
          </a:xfrm>
          <a:prstGeom prst="rect">
            <a:avLst/>
          </a:prstGeom>
          <a:noFill/>
        </p:spPr>
        <p:txBody>
          <a:bodyPr wrap="square">
            <a:spAutoFit/>
          </a:bodyPr>
          <a:lstStyle/>
          <a:p>
            <a:r>
              <a:rPr lang="en-IN" b="1" dirty="0">
                <a:solidFill>
                  <a:schemeClr val="tx2">
                    <a:lumMod val="75000"/>
                  </a:schemeClr>
                </a:solidFill>
                <a:latin typeface="Tenorite" panose="00000500000000000000" pitchFamily="2" charset="0"/>
              </a:rPr>
              <a:t>Objective 1 Methodology and Results  :     </a:t>
            </a:r>
            <a:endParaRPr lang="en-IN" sz="1400" b="1" dirty="0">
              <a:solidFill>
                <a:schemeClr val="tx2">
                  <a:lumMod val="75000"/>
                </a:schemeClr>
              </a:solidFill>
              <a:latin typeface="Tenorite" panose="00000500000000000000" pitchFamily="2" charset="0"/>
            </a:endParaRPr>
          </a:p>
        </p:txBody>
      </p:sp>
      <p:sp>
        <p:nvSpPr>
          <p:cNvPr id="6" name="TextBox 5">
            <a:extLst>
              <a:ext uri="{FF2B5EF4-FFF2-40B4-BE49-F238E27FC236}">
                <a16:creationId xmlns:a16="http://schemas.microsoft.com/office/drawing/2014/main" id="{BD49C31F-FB70-2AE5-0AE7-7FE5BC976C9A}"/>
              </a:ext>
            </a:extLst>
          </p:cNvPr>
          <p:cNvSpPr txBox="1"/>
          <p:nvPr/>
        </p:nvSpPr>
        <p:spPr>
          <a:xfrm>
            <a:off x="385482" y="1601298"/>
            <a:ext cx="11103429" cy="3662541"/>
          </a:xfrm>
          <a:prstGeom prst="rect">
            <a:avLst/>
          </a:prstGeom>
          <a:noFill/>
        </p:spPr>
        <p:txBody>
          <a:bodyPr wrap="square" rtlCol="0">
            <a:spAutoFit/>
          </a:bodyPr>
          <a:lstStyle/>
          <a:p>
            <a:endParaRPr lang="en-IN" sz="1400" dirty="0"/>
          </a:p>
          <a:p>
            <a:endParaRPr lang="en-IN" sz="1400" dirty="0"/>
          </a:p>
          <a:p>
            <a:pPr marL="285750" indent="-285750" algn="just">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Transcript Extraction  </a:t>
            </a:r>
          </a:p>
          <a:p>
            <a:pPr algn="just"/>
            <a:r>
              <a:rPr lang="en-IN" sz="1600" dirty="0">
                <a:latin typeface="Times New Roman" panose="02020603050405020304" pitchFamily="18" charset="0"/>
                <a:cs typeface="Times New Roman" panose="02020603050405020304" pitchFamily="18" charset="0"/>
              </a:rPr>
              <a:t>     Extract video transcripts using APIs (e.g., YouTube Data API)</a:t>
            </a:r>
          </a:p>
          <a:p>
            <a:pPr algn="just"/>
            <a:endParaRPr lang="en-IN"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 Hybrid Summarization Model  </a:t>
            </a:r>
          </a:p>
          <a:p>
            <a:pPr algn="just"/>
            <a:r>
              <a:rPr lang="en-IN" sz="1600" dirty="0">
                <a:latin typeface="Times New Roman" panose="02020603050405020304" pitchFamily="18" charset="0"/>
                <a:cs typeface="Times New Roman" panose="02020603050405020304" pitchFamily="18" charset="0"/>
              </a:rPr>
              <a:t>      Combine </a:t>
            </a: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(for orchestration) with LaMini-Flan-T5 (for abstractive, context-rich summaries)</a:t>
            </a:r>
          </a:p>
          <a:p>
            <a:pPr marL="285750" indent="-285750" algn="just">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Natural Language Querying </a:t>
            </a:r>
          </a:p>
          <a:p>
            <a:pPr algn="just"/>
            <a:r>
              <a:rPr lang="en-IN" sz="1600" dirty="0">
                <a:latin typeface="Times New Roman" panose="02020603050405020304" pitchFamily="18" charset="0"/>
                <a:cs typeface="Times New Roman" panose="02020603050405020304" pitchFamily="18" charset="0"/>
              </a:rPr>
              <a:t>      Enable user Q&amp;A via OpenAI’s LLM, extracting answers from summarized content</a:t>
            </a:r>
          </a:p>
          <a:p>
            <a:pPr algn="just"/>
            <a:endParaRPr lang="en-IN"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User Interface</a:t>
            </a:r>
          </a:p>
          <a:p>
            <a:pPr algn="just"/>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-based UI with video input, summary display, query box &amp; TTS playback</a:t>
            </a:r>
          </a:p>
          <a:p>
            <a:endParaRPr lang="en-IN" sz="1400" dirty="0"/>
          </a:p>
          <a:p>
            <a:endParaRPr lang="en-IN" sz="1400" dirty="0"/>
          </a:p>
        </p:txBody>
      </p:sp>
    </p:spTree>
    <p:extLst>
      <p:ext uri="{BB962C8B-B14F-4D97-AF65-F5344CB8AC3E}">
        <p14:creationId xmlns:p14="http://schemas.microsoft.com/office/powerpoint/2010/main" val="500809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4CD17D7-3EE1-CE0C-BD56-5EB10B7F5C5F}"/>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DA32171C-F6D7-06F6-8418-BCC207120407}"/>
              </a:ext>
            </a:extLst>
          </p:cNvPr>
          <p:cNvSpPr>
            <a:spLocks noGrp="1"/>
          </p:cNvSpPr>
          <p:nvPr>
            <p:ph type="ftr" sz="quarter" idx="11"/>
          </p:nvPr>
        </p:nvSpPr>
        <p:spPr/>
        <p:txBody>
          <a:bodyPr/>
          <a:lstStyle/>
          <a:p>
            <a:r>
              <a:rPr lang="en-IN"/>
              <a:t>Department of Information Technology </a:t>
            </a:r>
            <a:endParaRPr lang="en-IN" dirty="0"/>
          </a:p>
        </p:txBody>
      </p:sp>
      <p:pic>
        <p:nvPicPr>
          <p:cNvPr id="4099" name="Picture 3">
            <a:extLst>
              <a:ext uri="{FF2B5EF4-FFF2-40B4-BE49-F238E27FC236}">
                <a16:creationId xmlns:a16="http://schemas.microsoft.com/office/drawing/2014/main" id="{36FFBB63-CEE5-2C37-D628-D1B9B0172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3112" y="1222343"/>
            <a:ext cx="2954276" cy="480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CC8533E-B031-4B40-4592-CC0CA477C836}"/>
              </a:ext>
            </a:extLst>
          </p:cNvPr>
          <p:cNvSpPr txBox="1"/>
          <p:nvPr/>
        </p:nvSpPr>
        <p:spPr>
          <a:xfrm>
            <a:off x="350345" y="2118048"/>
            <a:ext cx="5235252" cy="190821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Results: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High-quality, coherent summaries  </a:t>
            </a: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Accurate, context-aware query responses  </a:t>
            </a: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Faster understanding of long videos   </a:t>
            </a: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Seamless, user-friendly experience</a:t>
            </a:r>
          </a:p>
          <a:p>
            <a:endParaRPr lang="en-IN" dirty="0"/>
          </a:p>
        </p:txBody>
      </p:sp>
    </p:spTree>
    <p:extLst>
      <p:ext uri="{BB962C8B-B14F-4D97-AF65-F5344CB8AC3E}">
        <p14:creationId xmlns:p14="http://schemas.microsoft.com/office/powerpoint/2010/main" val="2670255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9517B-77DE-1287-A99C-CA0DD3F5DD7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C551786-242D-B6A2-14DB-FFC09C683396}"/>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D7FCC044-36C1-22D0-0150-C47661F8688B}"/>
              </a:ext>
            </a:extLst>
          </p:cNvPr>
          <p:cNvSpPr>
            <a:spLocks noGrp="1"/>
          </p:cNvSpPr>
          <p:nvPr>
            <p:ph type="ftr" sz="quarter" idx="11"/>
          </p:nvPr>
        </p:nvSpPr>
        <p:spPr/>
        <p:txBody>
          <a:bodyPr/>
          <a:lstStyle/>
          <a:p>
            <a:r>
              <a:rPr lang="en-IN"/>
              <a:t>Department of Information Technology </a:t>
            </a:r>
            <a:endParaRPr lang="en-IN" dirty="0"/>
          </a:p>
        </p:txBody>
      </p:sp>
      <p:sp>
        <p:nvSpPr>
          <p:cNvPr id="3" name="TextBox 2">
            <a:extLst>
              <a:ext uri="{FF2B5EF4-FFF2-40B4-BE49-F238E27FC236}">
                <a16:creationId xmlns:a16="http://schemas.microsoft.com/office/drawing/2014/main" id="{A1F58018-7E2E-D4F8-3568-D2988FAB3575}"/>
              </a:ext>
            </a:extLst>
          </p:cNvPr>
          <p:cNvSpPr txBox="1"/>
          <p:nvPr/>
        </p:nvSpPr>
        <p:spPr>
          <a:xfrm>
            <a:off x="208201" y="1183367"/>
            <a:ext cx="6096000" cy="369332"/>
          </a:xfrm>
          <a:prstGeom prst="rect">
            <a:avLst/>
          </a:prstGeom>
          <a:noFill/>
        </p:spPr>
        <p:txBody>
          <a:bodyPr wrap="square">
            <a:spAutoFit/>
          </a:bodyPr>
          <a:lstStyle/>
          <a:p>
            <a:r>
              <a:rPr lang="en-IN" b="1" dirty="0">
                <a:solidFill>
                  <a:schemeClr val="tx2">
                    <a:lumMod val="75000"/>
                  </a:schemeClr>
                </a:solidFill>
                <a:latin typeface="Tenorite" panose="00000500000000000000" pitchFamily="2" charset="0"/>
              </a:rPr>
              <a:t>Objective 2  Methodology and Results:     </a:t>
            </a:r>
            <a:endParaRPr lang="en-IN" sz="1400" b="1" dirty="0">
              <a:solidFill>
                <a:schemeClr val="tx2">
                  <a:lumMod val="75000"/>
                </a:schemeClr>
              </a:solidFill>
              <a:latin typeface="Tenorite" panose="00000500000000000000" pitchFamily="2" charset="0"/>
            </a:endParaRPr>
          </a:p>
        </p:txBody>
      </p:sp>
      <p:sp>
        <p:nvSpPr>
          <p:cNvPr id="2" name="TextBox 1">
            <a:extLst>
              <a:ext uri="{FF2B5EF4-FFF2-40B4-BE49-F238E27FC236}">
                <a16:creationId xmlns:a16="http://schemas.microsoft.com/office/drawing/2014/main" id="{8C663CD5-FBBA-7F98-6338-D536827267E4}"/>
              </a:ext>
            </a:extLst>
          </p:cNvPr>
          <p:cNvSpPr txBox="1"/>
          <p:nvPr/>
        </p:nvSpPr>
        <p:spPr>
          <a:xfrm>
            <a:off x="208201" y="1564243"/>
            <a:ext cx="11439331" cy="4216539"/>
          </a:xfrm>
          <a:prstGeom prst="rect">
            <a:avLst/>
          </a:prstGeom>
          <a:noFill/>
        </p:spPr>
        <p:txBody>
          <a:bodyPr wrap="square" rtlCol="0">
            <a:spAutoFit/>
          </a:bodyPr>
          <a:lstStyle/>
          <a:p>
            <a:pPr marL="285750" indent="-285750">
              <a:buFont typeface="Wingdings" panose="05000000000000000000" pitchFamily="2" charset="2"/>
              <a:buChar char="Ø"/>
            </a:pPr>
            <a:r>
              <a:rPr lang="en-IN" sz="1400" dirty="0"/>
              <a:t> </a:t>
            </a:r>
            <a:r>
              <a:rPr lang="en-IN" sz="1600" b="1" dirty="0" err="1">
                <a:latin typeface="Times New Roman" panose="02020603050405020304" pitchFamily="18" charset="0"/>
                <a:cs typeface="Times New Roman" panose="02020603050405020304" pitchFamily="18" charset="0"/>
              </a:rPr>
              <a:t>Streamlit</a:t>
            </a:r>
            <a:r>
              <a:rPr lang="en-IN" sz="1600" b="1" dirty="0">
                <a:latin typeface="Times New Roman" panose="02020603050405020304" pitchFamily="18" charset="0"/>
                <a:cs typeface="Times New Roman" panose="02020603050405020304" pitchFamily="18" charset="0"/>
              </a:rPr>
              <a:t> Interface</a:t>
            </a:r>
          </a:p>
          <a:p>
            <a:r>
              <a:rPr lang="en-IN" sz="1600" dirty="0">
                <a:latin typeface="Times New Roman" panose="02020603050405020304" pitchFamily="18" charset="0"/>
                <a:cs typeface="Times New Roman" panose="02020603050405020304" pitchFamily="18" charset="0"/>
              </a:rPr>
              <a:t>      User-friendly UI for easy navigation  </a:t>
            </a:r>
          </a:p>
          <a:p>
            <a:r>
              <a:rPr lang="en-IN" sz="1600" dirty="0">
                <a:latin typeface="Times New Roman" panose="02020603050405020304" pitchFamily="18" charset="0"/>
                <a:cs typeface="Times New Roman" panose="02020603050405020304" pitchFamily="18" charset="0"/>
              </a:rPr>
              <a:t>      Users input YouTube URLs to access content  </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Transcript Processing</a:t>
            </a:r>
          </a:p>
          <a:p>
            <a:r>
              <a:rPr lang="en-IN" sz="1600" dirty="0">
                <a:latin typeface="Times New Roman" panose="02020603050405020304" pitchFamily="18" charset="0"/>
                <a:cs typeface="Times New Roman" panose="02020603050405020304" pitchFamily="18" charset="0"/>
              </a:rPr>
              <a:t>      Automatic extraction and cleaning of video transcripts  </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Hybrid Summarization Model</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 LaMini-Flan-T5 for coherent, abstractive summaries  </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Natural Language Querying  </a:t>
            </a:r>
          </a:p>
          <a:p>
            <a:r>
              <a:rPr lang="en-IN" sz="1600" dirty="0">
                <a:latin typeface="Times New Roman" panose="02020603050405020304" pitchFamily="18" charset="0"/>
                <a:cs typeface="Times New Roman" panose="02020603050405020304" pitchFamily="18" charset="0"/>
              </a:rPr>
              <a:t>     Powered by OpenAI’s LLM for context-aware Q&amp;A  </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Text-to-Speech (TTS)</a:t>
            </a:r>
          </a:p>
          <a:p>
            <a:r>
              <a:rPr lang="en-IN" sz="1600" dirty="0">
                <a:latin typeface="Times New Roman" panose="02020603050405020304" pitchFamily="18" charset="0"/>
                <a:cs typeface="Times New Roman" panose="02020603050405020304" pitchFamily="18" charset="0"/>
              </a:rPr>
              <a:t>     Listen to summarized content via integrated TTS API  </a:t>
            </a:r>
          </a:p>
          <a:p>
            <a:endParaRPr lang="en-IN" sz="1400" dirty="0"/>
          </a:p>
          <a:p>
            <a:endParaRPr lang="en-IN" sz="1400" dirty="0"/>
          </a:p>
        </p:txBody>
      </p:sp>
    </p:spTree>
    <p:extLst>
      <p:ext uri="{BB962C8B-B14F-4D97-AF65-F5344CB8AC3E}">
        <p14:creationId xmlns:p14="http://schemas.microsoft.com/office/powerpoint/2010/main" val="390620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D2CC517-1E22-64BF-0CF7-26B85696D7A9}"/>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80D80E53-5CD3-B1E1-9EB6-6ED6A4C07992}"/>
              </a:ext>
            </a:extLst>
          </p:cNvPr>
          <p:cNvSpPr>
            <a:spLocks noGrp="1"/>
          </p:cNvSpPr>
          <p:nvPr>
            <p:ph type="ftr" sz="quarter" idx="11"/>
          </p:nvPr>
        </p:nvSpPr>
        <p:spPr/>
        <p:txBody>
          <a:bodyPr/>
          <a:lstStyle/>
          <a:p>
            <a:r>
              <a:rPr lang="en-IN"/>
              <a:t>Department of Information Technology </a:t>
            </a:r>
            <a:endParaRPr lang="en-IN" dirty="0"/>
          </a:p>
        </p:txBody>
      </p:sp>
      <p:pic>
        <p:nvPicPr>
          <p:cNvPr id="4098" name="Picture 2">
            <a:extLst>
              <a:ext uri="{FF2B5EF4-FFF2-40B4-BE49-F238E27FC236}">
                <a16:creationId xmlns:a16="http://schemas.microsoft.com/office/drawing/2014/main" id="{A82F06D0-BC82-3DA4-A7EE-8C71091525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8985" y="1221599"/>
            <a:ext cx="4377287" cy="282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77A746C-4E2A-736B-F178-441537C6869F}"/>
              </a:ext>
            </a:extLst>
          </p:cNvPr>
          <p:cNvSpPr txBox="1"/>
          <p:nvPr/>
        </p:nvSpPr>
        <p:spPr>
          <a:xfrm>
            <a:off x="569167" y="1726163"/>
            <a:ext cx="3545633" cy="212365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Results</a:t>
            </a:r>
            <a:r>
              <a:rPr lang="en-IN" sz="1600" b="1"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 Clear, human-like summaries  </a:t>
            </a: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 Efficient information access through Q&amp;A  </a:t>
            </a: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 Audio summaries for accessibility  </a:t>
            </a: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Smooth user experience with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 UI</a:t>
            </a:r>
          </a:p>
          <a:p>
            <a:endParaRPr lang="en-IN" dirty="0"/>
          </a:p>
        </p:txBody>
      </p:sp>
    </p:spTree>
    <p:extLst>
      <p:ext uri="{BB962C8B-B14F-4D97-AF65-F5344CB8AC3E}">
        <p14:creationId xmlns:p14="http://schemas.microsoft.com/office/powerpoint/2010/main" val="2733898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A3F4A-CF54-5611-EB04-F30B7575BAA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789737D-BA0C-05A7-021C-F53700829A9A}"/>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CD616D4E-DCD1-D1D3-9ED9-0DD03B5BCF28}"/>
              </a:ext>
            </a:extLst>
          </p:cNvPr>
          <p:cNvSpPr>
            <a:spLocks noGrp="1"/>
          </p:cNvSpPr>
          <p:nvPr>
            <p:ph type="ftr" sz="quarter" idx="11"/>
          </p:nvPr>
        </p:nvSpPr>
        <p:spPr/>
        <p:txBody>
          <a:bodyPr/>
          <a:lstStyle/>
          <a:p>
            <a:r>
              <a:rPr lang="en-IN"/>
              <a:t>Department of Information Technology </a:t>
            </a:r>
            <a:endParaRPr lang="en-IN" dirty="0"/>
          </a:p>
        </p:txBody>
      </p:sp>
      <p:sp>
        <p:nvSpPr>
          <p:cNvPr id="3" name="TextBox 2">
            <a:extLst>
              <a:ext uri="{FF2B5EF4-FFF2-40B4-BE49-F238E27FC236}">
                <a16:creationId xmlns:a16="http://schemas.microsoft.com/office/drawing/2014/main" id="{09C12C42-8720-68F5-51FD-15F991544A07}"/>
              </a:ext>
            </a:extLst>
          </p:cNvPr>
          <p:cNvSpPr txBox="1"/>
          <p:nvPr/>
        </p:nvSpPr>
        <p:spPr>
          <a:xfrm>
            <a:off x="167951" y="1334277"/>
            <a:ext cx="6313531" cy="369332"/>
          </a:xfrm>
          <a:prstGeom prst="rect">
            <a:avLst/>
          </a:prstGeom>
          <a:noFill/>
        </p:spPr>
        <p:txBody>
          <a:bodyPr wrap="square">
            <a:spAutoFit/>
          </a:bodyPr>
          <a:lstStyle/>
          <a:p>
            <a:r>
              <a:rPr lang="en-IN" b="1" dirty="0">
                <a:solidFill>
                  <a:schemeClr val="tx2">
                    <a:lumMod val="75000"/>
                  </a:schemeClr>
                </a:solidFill>
                <a:latin typeface="Tenorite" panose="00000500000000000000" pitchFamily="2" charset="0"/>
              </a:rPr>
              <a:t>Objective 3 : Methodology and Results     </a:t>
            </a:r>
            <a:endParaRPr lang="en-IN" sz="1400" b="1" dirty="0">
              <a:solidFill>
                <a:schemeClr val="tx2">
                  <a:lumMod val="75000"/>
                </a:schemeClr>
              </a:solidFill>
              <a:latin typeface="Tenorite" panose="00000500000000000000" pitchFamily="2" charset="0"/>
            </a:endParaRPr>
          </a:p>
        </p:txBody>
      </p:sp>
      <p:sp>
        <p:nvSpPr>
          <p:cNvPr id="6" name="TextBox 5">
            <a:extLst>
              <a:ext uri="{FF2B5EF4-FFF2-40B4-BE49-F238E27FC236}">
                <a16:creationId xmlns:a16="http://schemas.microsoft.com/office/drawing/2014/main" id="{6445A911-25F3-E3A8-3B78-9A83B970CC84}"/>
              </a:ext>
            </a:extLst>
          </p:cNvPr>
          <p:cNvSpPr txBox="1"/>
          <p:nvPr/>
        </p:nvSpPr>
        <p:spPr>
          <a:xfrm>
            <a:off x="167951" y="1630910"/>
            <a:ext cx="10478278" cy="4616648"/>
          </a:xfrm>
          <a:prstGeom prst="rect">
            <a:avLst/>
          </a:prstGeom>
          <a:noFill/>
        </p:spPr>
        <p:txBody>
          <a:bodyPr wrap="square" rtlCol="0">
            <a:spAutoFit/>
          </a:bodyPr>
          <a:lstStyle/>
          <a:p>
            <a:endParaRPr lang="en-IN" sz="1400" dirty="0"/>
          </a:p>
          <a:p>
            <a:endParaRPr lang="en-IN" sz="1600" dirty="0"/>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Transcript Extraction &amp; Processing</a:t>
            </a:r>
          </a:p>
          <a:p>
            <a:r>
              <a:rPr lang="en-IN" sz="1600" dirty="0">
                <a:latin typeface="Times New Roman" panose="02020603050405020304" pitchFamily="18" charset="0"/>
                <a:cs typeface="Times New Roman" panose="02020603050405020304" pitchFamily="18" charset="0"/>
              </a:rPr>
              <a:t>       Extract and clean transcripts from video URLs (e.g., YouTube)</a:t>
            </a:r>
          </a:p>
          <a:p>
            <a:pPr marL="285750" indent="-285750">
              <a:buFont typeface="Wingdings" panose="05000000000000000000" pitchFamily="2" charset="2"/>
              <a:buChar char="Ø"/>
            </a:pPr>
            <a:endParaRPr lang="en-IN" sz="1600" dirty="0"/>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 Hybrid Summarization</a:t>
            </a:r>
          </a:p>
          <a:p>
            <a:r>
              <a:rPr lang="en-IN" sz="1600" dirty="0">
                <a:latin typeface="Times New Roman" panose="02020603050405020304" pitchFamily="18" charset="0"/>
                <a:cs typeface="Times New Roman" panose="02020603050405020304" pitchFamily="18" charset="0"/>
              </a:rPr>
              <a:t>       Use </a:t>
            </a: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for workflow orchestration  </a:t>
            </a:r>
          </a:p>
          <a:p>
            <a:r>
              <a:rPr lang="en-IN" sz="1600" dirty="0">
                <a:latin typeface="Times New Roman" panose="02020603050405020304" pitchFamily="18" charset="0"/>
                <a:cs typeface="Times New Roman" panose="02020603050405020304" pitchFamily="18" charset="0"/>
              </a:rPr>
              <a:t>       Apply LaMini-Flan-T5  to generate coherent, emotionally rich summaries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Natural Language Querying</a:t>
            </a:r>
          </a:p>
          <a:p>
            <a:r>
              <a:rPr lang="en-IN" sz="1600" dirty="0">
                <a:latin typeface="Times New Roman" panose="02020603050405020304" pitchFamily="18" charset="0"/>
                <a:cs typeface="Times New Roman" panose="02020603050405020304" pitchFamily="18" charset="0"/>
              </a:rPr>
              <a:t>      Integrate OpenAI's LLM to answer user queries based on the summarized content</a:t>
            </a:r>
          </a:p>
          <a:p>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User Interface</a:t>
            </a:r>
          </a:p>
          <a:p>
            <a:r>
              <a:rPr lang="en-IN" sz="1600" dirty="0">
                <a:latin typeface="Times New Roman" panose="02020603050405020304" pitchFamily="18" charset="0"/>
                <a:cs typeface="Times New Roman" panose="02020603050405020304" pitchFamily="18" charset="0"/>
              </a:rPr>
              <a:t>      Build a simple, interactive UI </a:t>
            </a:r>
            <a:r>
              <a:rPr lang="en-IN" sz="1600" dirty="0" err="1">
                <a:latin typeface="Times New Roman" panose="02020603050405020304" pitchFamily="18" charset="0"/>
                <a:cs typeface="Times New Roman" panose="02020603050405020304" pitchFamily="18" charset="0"/>
              </a:rPr>
              <a:t>withStreamlit</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Enable Text-to-Speech playback  for audio summaries</a:t>
            </a:r>
          </a:p>
          <a:p>
            <a:endParaRPr lang="en-IN" sz="1400" dirty="0"/>
          </a:p>
          <a:p>
            <a:endParaRPr lang="en-IN" sz="1400" dirty="0"/>
          </a:p>
          <a:p>
            <a:endParaRPr lang="en-IN" sz="1400" dirty="0"/>
          </a:p>
          <a:p>
            <a:endParaRPr lang="en-IN" sz="1400" dirty="0"/>
          </a:p>
        </p:txBody>
      </p:sp>
    </p:spTree>
    <p:extLst>
      <p:ext uri="{BB962C8B-B14F-4D97-AF65-F5344CB8AC3E}">
        <p14:creationId xmlns:p14="http://schemas.microsoft.com/office/powerpoint/2010/main" val="2005518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44A3CA1-3A6A-15FA-F601-DFFF0E484FE1}"/>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348DB3D8-07C3-D59E-FE3E-4D3D8A9CEAF7}"/>
              </a:ext>
            </a:extLst>
          </p:cNvPr>
          <p:cNvSpPr>
            <a:spLocks noGrp="1"/>
          </p:cNvSpPr>
          <p:nvPr>
            <p:ph type="ftr" sz="quarter" idx="11"/>
          </p:nvPr>
        </p:nvSpPr>
        <p:spPr/>
        <p:txBody>
          <a:bodyPr/>
          <a:lstStyle/>
          <a:p>
            <a:r>
              <a:rPr lang="en-IN"/>
              <a:t>Department of Information Technology </a:t>
            </a:r>
            <a:endParaRPr lang="en-IN" dirty="0"/>
          </a:p>
        </p:txBody>
      </p:sp>
      <p:pic>
        <p:nvPicPr>
          <p:cNvPr id="7" name="Picture 6" descr="A graph of a graph&#10;&#10;AI-generated content may be incorrect.">
            <a:extLst>
              <a:ext uri="{FF2B5EF4-FFF2-40B4-BE49-F238E27FC236}">
                <a16:creationId xmlns:a16="http://schemas.microsoft.com/office/drawing/2014/main" id="{79B4E8B6-47EF-3C74-8F6B-CD82B610EE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4415" y="1425616"/>
            <a:ext cx="8816739" cy="4375000"/>
          </a:xfrm>
          <a:prstGeom prst="rect">
            <a:avLst/>
          </a:prstGeom>
        </p:spPr>
      </p:pic>
      <p:sp>
        <p:nvSpPr>
          <p:cNvPr id="8" name="TextBox 7">
            <a:extLst>
              <a:ext uri="{FF2B5EF4-FFF2-40B4-BE49-F238E27FC236}">
                <a16:creationId xmlns:a16="http://schemas.microsoft.com/office/drawing/2014/main" id="{598F12C7-0060-43D3-A56B-D5669BF336B5}"/>
              </a:ext>
            </a:extLst>
          </p:cNvPr>
          <p:cNvSpPr txBox="1"/>
          <p:nvPr/>
        </p:nvSpPr>
        <p:spPr>
          <a:xfrm>
            <a:off x="399662" y="1613118"/>
            <a:ext cx="2511490" cy="3631763"/>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Results:</a:t>
            </a:r>
          </a:p>
          <a:p>
            <a:endParaRPr lang="en-IN" sz="1600" dirty="0"/>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Abstractive summaries with strong semantic and emotional continuity  </a:t>
            </a: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 Accurate, natural language responses to user queries  </a:t>
            </a: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 Faster understanding of long videos  </a:t>
            </a:r>
          </a:p>
          <a:p>
            <a:pPr marL="28575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 Accessible, smooth user experience with visual + audio outputs  </a:t>
            </a:r>
          </a:p>
          <a:p>
            <a:endParaRPr lang="en-IN" dirty="0"/>
          </a:p>
        </p:txBody>
      </p:sp>
    </p:spTree>
    <p:extLst>
      <p:ext uri="{BB962C8B-B14F-4D97-AF65-F5344CB8AC3E}">
        <p14:creationId xmlns:p14="http://schemas.microsoft.com/office/powerpoint/2010/main" val="2246510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D194F-E220-6984-D28B-FA9CAA5C687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2DC84C0-DEBF-283C-ED42-17F71B762188}"/>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C974D10A-3234-EC3B-4096-2F82ABF91795}"/>
              </a:ext>
            </a:extLst>
          </p:cNvPr>
          <p:cNvSpPr>
            <a:spLocks noGrp="1"/>
          </p:cNvSpPr>
          <p:nvPr>
            <p:ph type="ftr" sz="quarter" idx="11"/>
          </p:nvPr>
        </p:nvSpPr>
        <p:spPr/>
        <p:txBody>
          <a:bodyPr/>
          <a:lstStyle/>
          <a:p>
            <a:r>
              <a:rPr lang="en-IN"/>
              <a:t>Department of Information Technology </a:t>
            </a:r>
            <a:endParaRPr lang="en-IN" dirty="0"/>
          </a:p>
        </p:txBody>
      </p:sp>
      <p:sp>
        <p:nvSpPr>
          <p:cNvPr id="3" name="TextBox 2">
            <a:extLst>
              <a:ext uri="{FF2B5EF4-FFF2-40B4-BE49-F238E27FC236}">
                <a16:creationId xmlns:a16="http://schemas.microsoft.com/office/drawing/2014/main" id="{5477DF9E-C7D9-3F46-A7F5-A0B4548AB9F0}"/>
              </a:ext>
            </a:extLst>
          </p:cNvPr>
          <p:cNvSpPr txBox="1"/>
          <p:nvPr/>
        </p:nvSpPr>
        <p:spPr>
          <a:xfrm>
            <a:off x="592585" y="1397971"/>
            <a:ext cx="5977629" cy="369332"/>
          </a:xfrm>
          <a:prstGeom prst="rect">
            <a:avLst/>
          </a:prstGeom>
          <a:noFill/>
        </p:spPr>
        <p:txBody>
          <a:bodyPr wrap="square">
            <a:spAutoFit/>
          </a:bodyPr>
          <a:lstStyle/>
          <a:p>
            <a:r>
              <a:rPr lang="en-IN" b="1" dirty="0">
                <a:solidFill>
                  <a:schemeClr val="tx2">
                    <a:lumMod val="75000"/>
                  </a:schemeClr>
                </a:solidFill>
                <a:latin typeface="Tenorite" panose="00000500000000000000" pitchFamily="2" charset="0"/>
              </a:rPr>
              <a:t>Conclusion </a:t>
            </a:r>
          </a:p>
        </p:txBody>
      </p:sp>
      <p:sp>
        <p:nvSpPr>
          <p:cNvPr id="2" name="TextBox 1">
            <a:extLst>
              <a:ext uri="{FF2B5EF4-FFF2-40B4-BE49-F238E27FC236}">
                <a16:creationId xmlns:a16="http://schemas.microsoft.com/office/drawing/2014/main" id="{3F18B6E6-0767-B193-7E78-D1E126B232D7}"/>
              </a:ext>
            </a:extLst>
          </p:cNvPr>
          <p:cNvSpPr txBox="1"/>
          <p:nvPr/>
        </p:nvSpPr>
        <p:spPr>
          <a:xfrm>
            <a:off x="74645" y="1952334"/>
            <a:ext cx="9060024" cy="2640210"/>
          </a:xfrm>
          <a:prstGeom prst="rect">
            <a:avLst/>
          </a:prstGeom>
          <a:noFill/>
        </p:spPr>
        <p:txBody>
          <a:bodyPr wrap="square" rtlCol="0">
            <a:spAutoFit/>
          </a:bodyPr>
          <a:lstStyle/>
          <a:p>
            <a:pPr marL="675648" lvl="1" indent="-337824" algn="just">
              <a:lnSpc>
                <a:spcPct val="150000"/>
              </a:lnSpc>
              <a:buFont typeface="Arial"/>
              <a:buChar char="•"/>
            </a:pPr>
            <a:r>
              <a:rPr lang="en-US" sz="1600" dirty="0">
                <a:solidFill>
                  <a:srgbClr val="000000"/>
                </a:solidFill>
                <a:latin typeface="Times New Roman"/>
                <a:ea typeface="Times New Roman"/>
                <a:cs typeface="Times New Roman"/>
                <a:sym typeface="Times New Roman"/>
              </a:rPr>
              <a:t>AI-driven video summarization significantly enhances content accessibility and efficiency.</a:t>
            </a:r>
          </a:p>
          <a:p>
            <a:pPr marL="675648" lvl="1" indent="-337824" algn="just">
              <a:lnSpc>
                <a:spcPct val="150000"/>
              </a:lnSpc>
              <a:buFont typeface="Arial"/>
              <a:buChar char="•"/>
            </a:pPr>
            <a:r>
              <a:rPr lang="en-US" sz="1600" dirty="0">
                <a:solidFill>
                  <a:srgbClr val="000000"/>
                </a:solidFill>
                <a:latin typeface="Times New Roman"/>
                <a:ea typeface="Times New Roman"/>
                <a:cs typeface="Times New Roman"/>
                <a:sym typeface="Times New Roman"/>
              </a:rPr>
              <a:t>Integration of </a:t>
            </a:r>
            <a:r>
              <a:rPr lang="en-US" sz="1600" dirty="0" err="1">
                <a:solidFill>
                  <a:srgbClr val="000000"/>
                </a:solidFill>
                <a:latin typeface="Times New Roman"/>
                <a:ea typeface="Times New Roman"/>
                <a:cs typeface="Times New Roman"/>
                <a:sym typeface="Times New Roman"/>
              </a:rPr>
              <a:t>LangChain</a:t>
            </a:r>
            <a:r>
              <a:rPr lang="en-US" sz="1600" dirty="0">
                <a:solidFill>
                  <a:srgbClr val="000000"/>
                </a:solidFill>
                <a:latin typeface="Times New Roman"/>
                <a:ea typeface="Times New Roman"/>
                <a:cs typeface="Times New Roman"/>
                <a:sym typeface="Times New Roman"/>
              </a:rPr>
              <a:t> and LaMini provides an effective summarization pipeline with improved user interaction.</a:t>
            </a:r>
          </a:p>
          <a:p>
            <a:pPr marL="675648" lvl="1" indent="-337824" algn="just">
              <a:lnSpc>
                <a:spcPct val="150000"/>
              </a:lnSpc>
              <a:buFont typeface="Arial"/>
              <a:buChar char="•"/>
            </a:pPr>
            <a:r>
              <a:rPr lang="en-US" sz="1600" dirty="0">
                <a:solidFill>
                  <a:srgbClr val="000000"/>
                </a:solidFill>
                <a:latin typeface="Times New Roman"/>
                <a:ea typeface="Times New Roman"/>
                <a:cs typeface="Times New Roman"/>
                <a:sym typeface="Times New Roman"/>
              </a:rPr>
              <a:t>Challenges such as computational costs and context truncation require continuous optimization and fine-tuning.</a:t>
            </a:r>
          </a:p>
          <a:p>
            <a:pPr marL="675648" lvl="1" indent="-337824" algn="just">
              <a:lnSpc>
                <a:spcPct val="150000"/>
              </a:lnSpc>
              <a:buFont typeface="Arial"/>
              <a:buChar char="•"/>
            </a:pPr>
            <a:r>
              <a:rPr lang="en-US" sz="1600" dirty="0">
                <a:solidFill>
                  <a:srgbClr val="000000"/>
                </a:solidFill>
                <a:latin typeface="Times New Roman"/>
                <a:ea typeface="Times New Roman"/>
                <a:cs typeface="Times New Roman"/>
                <a:sym typeface="Times New Roman"/>
              </a:rPr>
              <a:t>Future advancements will focus on real-time summarization, multimodal learning, and improved scalability</a:t>
            </a:r>
            <a:endParaRPr lang="en-IN" sz="1600" dirty="0"/>
          </a:p>
        </p:txBody>
      </p:sp>
    </p:spTree>
    <p:extLst>
      <p:ext uri="{BB962C8B-B14F-4D97-AF65-F5344CB8AC3E}">
        <p14:creationId xmlns:p14="http://schemas.microsoft.com/office/powerpoint/2010/main" val="4236828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2B89AB-1AC0-22ED-7205-7638074CF44D}"/>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19EDF252-008D-462A-6334-947A8A6C448D}"/>
              </a:ext>
            </a:extLst>
          </p:cNvPr>
          <p:cNvSpPr>
            <a:spLocks noGrp="1"/>
          </p:cNvSpPr>
          <p:nvPr>
            <p:ph type="ftr" sz="quarter" idx="11"/>
          </p:nvPr>
        </p:nvSpPr>
        <p:spPr/>
        <p:txBody>
          <a:bodyPr/>
          <a:lstStyle/>
          <a:p>
            <a:r>
              <a:rPr lang="en-IN"/>
              <a:t>Department of Information Technology </a:t>
            </a:r>
            <a:endParaRPr lang="en-IN" dirty="0"/>
          </a:p>
        </p:txBody>
      </p:sp>
      <p:sp>
        <p:nvSpPr>
          <p:cNvPr id="6" name="TextBox 5">
            <a:extLst>
              <a:ext uri="{FF2B5EF4-FFF2-40B4-BE49-F238E27FC236}">
                <a16:creationId xmlns:a16="http://schemas.microsoft.com/office/drawing/2014/main" id="{218C9113-F73E-43E3-A657-C715CC8D1A48}"/>
              </a:ext>
            </a:extLst>
          </p:cNvPr>
          <p:cNvSpPr txBox="1"/>
          <p:nvPr/>
        </p:nvSpPr>
        <p:spPr>
          <a:xfrm>
            <a:off x="1156996" y="1548881"/>
            <a:ext cx="7473820" cy="369332"/>
          </a:xfrm>
          <a:prstGeom prst="rect">
            <a:avLst/>
          </a:prstGeom>
          <a:noFill/>
        </p:spPr>
        <p:txBody>
          <a:bodyPr wrap="square" rtlCol="0">
            <a:spAutoFit/>
          </a:bodyPr>
          <a:lstStyle/>
          <a:p>
            <a:r>
              <a:rPr lang="en-IN" b="1" dirty="0">
                <a:solidFill>
                  <a:schemeClr val="tx2">
                    <a:lumMod val="75000"/>
                  </a:schemeClr>
                </a:solidFill>
                <a:latin typeface="Tenorite" panose="00000500000000000000" pitchFamily="2" charset="0"/>
              </a:rPr>
              <a:t>Future Work</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A4CE9B0-69F3-0E08-C658-D31E85971F3C}"/>
              </a:ext>
            </a:extLst>
          </p:cNvPr>
          <p:cNvSpPr txBox="1"/>
          <p:nvPr/>
        </p:nvSpPr>
        <p:spPr>
          <a:xfrm>
            <a:off x="550506" y="2198131"/>
            <a:ext cx="8238931" cy="2585323"/>
          </a:xfrm>
          <a:prstGeom prst="rect">
            <a:avLst/>
          </a:prstGeom>
          <a:noFill/>
        </p:spPr>
        <p:txBody>
          <a:bodyPr wrap="square" rtlCol="0">
            <a:spAutoFit/>
          </a:bodyPr>
          <a:lstStyle/>
          <a:p>
            <a:pPr marL="604519" lvl="1" indent="-302260" algn="just">
              <a:lnSpc>
                <a:spcPct val="150000"/>
              </a:lnSpc>
              <a:buFont typeface="Arial"/>
              <a:buChar char="•"/>
            </a:pPr>
            <a:r>
              <a:rPr lang="en-US" sz="1600" b="1" dirty="0">
                <a:solidFill>
                  <a:srgbClr val="000000"/>
                </a:solidFill>
                <a:latin typeface="Times New Roman Bold"/>
                <a:ea typeface="Times New Roman Bold"/>
                <a:cs typeface="Times New Roman Bold"/>
                <a:sym typeface="Times New Roman Bold"/>
              </a:rPr>
              <a:t>Multimodal Learning</a:t>
            </a:r>
            <a:r>
              <a:rPr lang="en-US" sz="1600" dirty="0">
                <a:solidFill>
                  <a:srgbClr val="000000"/>
                </a:solidFill>
                <a:latin typeface="Times New Roman"/>
                <a:ea typeface="Times New Roman"/>
                <a:cs typeface="Times New Roman"/>
                <a:sym typeface="Times New Roman"/>
              </a:rPr>
              <a:t>: Combine video, audio, and text for deeper contextual understanding.</a:t>
            </a:r>
          </a:p>
          <a:p>
            <a:pPr marL="604519" lvl="1" indent="-302260" algn="just">
              <a:lnSpc>
                <a:spcPct val="150000"/>
              </a:lnSpc>
              <a:buFont typeface="Arial"/>
              <a:buChar char="•"/>
            </a:pPr>
            <a:r>
              <a:rPr lang="en-US" sz="1600" b="1" dirty="0">
                <a:solidFill>
                  <a:srgbClr val="000000"/>
                </a:solidFill>
                <a:latin typeface="Times New Roman Bold"/>
                <a:ea typeface="Times New Roman Bold"/>
                <a:cs typeface="Times New Roman Bold"/>
                <a:sym typeface="Times New Roman Bold"/>
              </a:rPr>
              <a:t>Domain-Specific Fine-Tuning</a:t>
            </a:r>
            <a:r>
              <a:rPr lang="en-US" sz="1600" dirty="0">
                <a:solidFill>
                  <a:srgbClr val="000000"/>
                </a:solidFill>
                <a:latin typeface="Times New Roman"/>
                <a:ea typeface="Times New Roman"/>
                <a:cs typeface="Times New Roman"/>
                <a:sym typeface="Times New Roman"/>
              </a:rPr>
              <a:t>: Train AI models for different content types to improve relevance.</a:t>
            </a:r>
          </a:p>
          <a:p>
            <a:pPr marL="604519" lvl="1" indent="-302260" algn="just">
              <a:lnSpc>
                <a:spcPct val="150000"/>
              </a:lnSpc>
              <a:buFont typeface="Arial"/>
              <a:buChar char="•"/>
            </a:pPr>
            <a:r>
              <a:rPr lang="en-US" sz="1600" b="1" dirty="0">
                <a:solidFill>
                  <a:srgbClr val="000000"/>
                </a:solidFill>
                <a:latin typeface="Times New Roman Bold"/>
                <a:ea typeface="Times New Roman Bold"/>
                <a:cs typeface="Times New Roman Bold"/>
                <a:sym typeface="Times New Roman Bold"/>
              </a:rPr>
              <a:t>Real-Time Summarization</a:t>
            </a:r>
            <a:r>
              <a:rPr lang="en-US" sz="1600" dirty="0">
                <a:solidFill>
                  <a:srgbClr val="000000"/>
                </a:solidFill>
                <a:latin typeface="Times New Roman"/>
                <a:ea typeface="Times New Roman"/>
                <a:cs typeface="Times New Roman"/>
                <a:sym typeface="Times New Roman"/>
              </a:rPr>
              <a:t>: Utilize edge computing and distributed AI for low-latency, live video summarization.</a:t>
            </a:r>
          </a:p>
          <a:p>
            <a:endParaRPr lang="en-IN" dirty="0"/>
          </a:p>
        </p:txBody>
      </p:sp>
    </p:spTree>
    <p:extLst>
      <p:ext uri="{BB962C8B-B14F-4D97-AF65-F5344CB8AC3E}">
        <p14:creationId xmlns:p14="http://schemas.microsoft.com/office/powerpoint/2010/main" val="255907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BABB5-093D-F5D2-C9D2-AFF6197216A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1BA7E62-1F07-CAAF-8CE2-5EFC8FE5F505}"/>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587CAFB6-649E-70E3-E0F0-9D47E97F661E}"/>
              </a:ext>
            </a:extLst>
          </p:cNvPr>
          <p:cNvSpPr>
            <a:spLocks noGrp="1"/>
          </p:cNvSpPr>
          <p:nvPr>
            <p:ph type="ftr" sz="quarter" idx="11"/>
          </p:nvPr>
        </p:nvSpPr>
        <p:spPr/>
        <p:txBody>
          <a:bodyPr/>
          <a:lstStyle/>
          <a:p>
            <a:r>
              <a:rPr lang="en-IN"/>
              <a:t>Department of Information Technology </a:t>
            </a:r>
            <a:endParaRPr lang="en-IN" dirty="0"/>
          </a:p>
        </p:txBody>
      </p:sp>
      <p:sp>
        <p:nvSpPr>
          <p:cNvPr id="3" name="TextBox 2">
            <a:extLst>
              <a:ext uri="{FF2B5EF4-FFF2-40B4-BE49-F238E27FC236}">
                <a16:creationId xmlns:a16="http://schemas.microsoft.com/office/drawing/2014/main" id="{355BFAD6-DF33-7867-1E5E-3A0CC99C3FB7}"/>
              </a:ext>
            </a:extLst>
          </p:cNvPr>
          <p:cNvSpPr txBox="1"/>
          <p:nvPr/>
        </p:nvSpPr>
        <p:spPr>
          <a:xfrm>
            <a:off x="699796" y="1183366"/>
            <a:ext cx="5968298" cy="369332"/>
          </a:xfrm>
          <a:prstGeom prst="rect">
            <a:avLst/>
          </a:prstGeom>
          <a:noFill/>
        </p:spPr>
        <p:txBody>
          <a:bodyPr wrap="square">
            <a:spAutoFit/>
          </a:bodyPr>
          <a:lstStyle/>
          <a:p>
            <a:r>
              <a:rPr lang="en-IN" b="1" dirty="0">
                <a:solidFill>
                  <a:schemeClr val="tx2">
                    <a:lumMod val="75000"/>
                  </a:schemeClr>
                </a:solidFill>
                <a:latin typeface="Tenorite" panose="00000500000000000000" pitchFamily="2" charset="0"/>
              </a:rPr>
              <a:t>REFERENCES   </a:t>
            </a:r>
            <a:endParaRPr lang="en-IN" sz="1400" b="1" dirty="0">
              <a:solidFill>
                <a:schemeClr val="tx2">
                  <a:lumMod val="75000"/>
                </a:schemeClr>
              </a:solidFill>
              <a:latin typeface="Tenorite" panose="00000500000000000000" pitchFamily="2" charset="0"/>
            </a:endParaRPr>
          </a:p>
        </p:txBody>
      </p:sp>
      <p:sp>
        <p:nvSpPr>
          <p:cNvPr id="6" name="TextBox 5">
            <a:extLst>
              <a:ext uri="{FF2B5EF4-FFF2-40B4-BE49-F238E27FC236}">
                <a16:creationId xmlns:a16="http://schemas.microsoft.com/office/drawing/2014/main" id="{6CAB40A6-33B3-D3BA-582E-8812D3AE4986}"/>
              </a:ext>
            </a:extLst>
          </p:cNvPr>
          <p:cNvSpPr txBox="1"/>
          <p:nvPr/>
        </p:nvSpPr>
        <p:spPr>
          <a:xfrm>
            <a:off x="625151" y="1767301"/>
            <a:ext cx="10496939" cy="3724096"/>
          </a:xfrm>
          <a:prstGeom prst="rect">
            <a:avLst/>
          </a:prstGeom>
          <a:noFill/>
        </p:spPr>
        <p:txBody>
          <a:bodyPr wrap="square" rtlCol="0">
            <a:spAutoFit/>
          </a:bodyPr>
          <a:lstStyle/>
          <a:p>
            <a:pPr>
              <a:spcAft>
                <a:spcPts val="800"/>
              </a:spcAft>
              <a:buNone/>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[1] B. Bineesh and S.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Shunmugan</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“Comparative work on video summarization</a:t>
            </a:r>
            <a:r>
              <a:rPr lang="en-IN" sz="1400" dirty="0">
                <a:latin typeface="Calibri" panose="020F0502020204030204" pitchFamily="34" charset="0"/>
                <a:ea typeface="Times New Roman" panose="02020603050405020304" pitchFamily="18" charset="0"/>
                <a:cs typeface="Times New Roman" panose="02020603050405020304" pitchFamily="18" charset="0"/>
              </a:rPr>
              <a:t> </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methods,” J. Inf.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Comput</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Sci., vol. 10, no. 6, pp. 1548–7741,2020.</a:t>
            </a:r>
            <a:endParaRPr lang="en-IN"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Aft>
                <a:spcPts val="800"/>
              </a:spcAft>
              <a:buNone/>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[2] A.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Senthilselvi</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R.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Prawin</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V. Harshit, et al., “Abstractive summarization</a:t>
            </a:r>
            <a:r>
              <a:rPr lang="en-IN" sz="1400" dirty="0">
                <a:latin typeface="Calibri" panose="020F0502020204030204" pitchFamily="34" charset="0"/>
                <a:ea typeface="Times New Roman" panose="02020603050405020304" pitchFamily="18" charset="0"/>
                <a:cs typeface="Times New Roman" panose="02020603050405020304" pitchFamily="18" charset="0"/>
              </a:rPr>
              <a:t> </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of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youtube</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videos using lamini-flan-t5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llm</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in 2024 Second International</a:t>
            </a:r>
            <a:r>
              <a:rPr lang="en-IN" sz="1400" dirty="0">
                <a:latin typeface="Calibri" panose="020F0502020204030204" pitchFamily="34" charset="0"/>
                <a:ea typeface="Times New Roman" panose="02020603050405020304" pitchFamily="18" charset="0"/>
                <a:cs typeface="Times New Roman" panose="02020603050405020304" pitchFamily="18" charset="0"/>
              </a:rPr>
              <a:t> </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Conference on Advances in Information Technology (ICAIT),</a:t>
            </a:r>
            <a:r>
              <a:rPr lang="en-IN" sz="1400" dirty="0">
                <a:latin typeface="Calibri" panose="020F0502020204030204" pitchFamily="34" charset="0"/>
                <a:ea typeface="Times New Roman" panose="02020603050405020304" pitchFamily="18" charset="0"/>
                <a:cs typeface="Times New Roman" panose="02020603050405020304" pitchFamily="18" charset="0"/>
              </a:rPr>
              <a:t> </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vol. 1, pp. 1–5, IEEE, 2024.</a:t>
            </a:r>
            <a:endParaRPr lang="en-IN"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Aft>
                <a:spcPts val="800"/>
              </a:spcAft>
              <a:buNone/>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[3] A. Ramakrishnan and C.-K. Ngan, “A hybrid video-to-text summarization framework and algorithm on cascading advanced extractive-and abstractive-based approaches for supporting viewers’ video navigation and understanding,” in 2022 IEEE Fifth International Conference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onArtificial</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Intelligence and Knowledge Engineering (AIKE), pp. 36–39,IEEE, 2022.</a:t>
            </a:r>
            <a:endParaRPr lang="en-IN"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Aft>
                <a:spcPts val="800"/>
              </a:spcAft>
              <a:buNone/>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[4] M.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Gygli</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H. Grabner, and L. Van Gool, “Video summarization by learning submodular mixtures of objectives,” in Proceedings of the IEEE conference on computer vision and pattern recognition, pp. 3090–3098,2015.</a:t>
            </a:r>
            <a:endParaRPr lang="en-IN"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Aft>
                <a:spcPts val="800"/>
              </a:spcAft>
              <a:buNone/>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[5] M. Kini and K. Pai, “A survey on video summarization techniques ,”in 2019 Innovations in Power and Advanced Computing Technologies(</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-PACT), vol. 1, pp. 1–5, IEEE, 2019.</a:t>
            </a:r>
            <a:endParaRPr lang="en-IN"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Aft>
                <a:spcPts val="800"/>
              </a:spcAft>
              <a:buNone/>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[6] M. Wu, A. Waheed, C. Zhang, M. Abdul-Mageed, and A. F.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Aji,Lamini-lm</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A diverse herd of distilled models from large-scale instructions,”</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arXiv</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preprint arXiv:2304.14402, 2023.</a:t>
            </a:r>
            <a:endParaRPr lang="en-IN" sz="14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sz="1400" dirty="0"/>
          </a:p>
        </p:txBody>
      </p:sp>
    </p:spTree>
    <p:extLst>
      <p:ext uri="{BB962C8B-B14F-4D97-AF65-F5344CB8AC3E}">
        <p14:creationId xmlns:p14="http://schemas.microsoft.com/office/powerpoint/2010/main" val="332534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EEA58-9772-447A-FEEA-70D2AC11EA6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A931F29-528D-1336-7A6E-EB3A8B37776B}"/>
              </a:ext>
            </a:extLst>
          </p:cNvPr>
          <p:cNvSpPr>
            <a:spLocks noGrp="1"/>
          </p:cNvSpPr>
          <p:nvPr>
            <p:ph type="dt" sz="half" idx="10"/>
          </p:nvPr>
        </p:nvSpPr>
        <p:spPr/>
        <p:txBody>
          <a:bodyPr/>
          <a:lstStyle/>
          <a:p>
            <a:fld id="{A36AC638-E0D4-480C-B8D2-A8AE4E9A99DC}" type="datetime1">
              <a:rPr lang="en-IN" smtClean="0"/>
              <a:pPr/>
              <a:t>16-04-2025</a:t>
            </a:fld>
            <a:endParaRPr lang="en-IN" dirty="0"/>
          </a:p>
        </p:txBody>
      </p:sp>
      <p:sp>
        <p:nvSpPr>
          <p:cNvPr id="5" name="Footer Placeholder 4">
            <a:extLst>
              <a:ext uri="{FF2B5EF4-FFF2-40B4-BE49-F238E27FC236}">
                <a16:creationId xmlns:a16="http://schemas.microsoft.com/office/drawing/2014/main" id="{D45774C2-BDE9-9532-758C-6C30A8FD5EF0}"/>
              </a:ext>
            </a:extLst>
          </p:cNvPr>
          <p:cNvSpPr>
            <a:spLocks noGrp="1"/>
          </p:cNvSpPr>
          <p:nvPr>
            <p:ph type="ftr" sz="quarter" idx="11"/>
          </p:nvPr>
        </p:nvSpPr>
        <p:spPr/>
        <p:txBody>
          <a:bodyPr/>
          <a:lstStyle/>
          <a:p>
            <a:r>
              <a:rPr lang="en-IN"/>
              <a:t>Department of Information Technology </a:t>
            </a:r>
            <a:endParaRPr lang="en-IN" dirty="0"/>
          </a:p>
        </p:txBody>
      </p:sp>
      <p:sp>
        <p:nvSpPr>
          <p:cNvPr id="3" name="TextBox 2">
            <a:extLst>
              <a:ext uri="{FF2B5EF4-FFF2-40B4-BE49-F238E27FC236}">
                <a16:creationId xmlns:a16="http://schemas.microsoft.com/office/drawing/2014/main" id="{4FCFA627-5A5D-19BB-12B3-3A5659128ECE}"/>
              </a:ext>
            </a:extLst>
          </p:cNvPr>
          <p:cNvSpPr txBox="1"/>
          <p:nvPr/>
        </p:nvSpPr>
        <p:spPr>
          <a:xfrm>
            <a:off x="385481" y="1361746"/>
            <a:ext cx="10694895" cy="369332"/>
          </a:xfrm>
          <a:prstGeom prst="rect">
            <a:avLst/>
          </a:prstGeom>
          <a:noFill/>
        </p:spPr>
        <p:txBody>
          <a:bodyPr wrap="square">
            <a:spAutoFit/>
          </a:bodyPr>
          <a:lstStyle/>
          <a:p>
            <a:r>
              <a:rPr lang="en-IN" b="1" dirty="0">
                <a:solidFill>
                  <a:schemeClr val="tx2">
                    <a:lumMod val="75000"/>
                  </a:schemeClr>
                </a:solidFill>
                <a:latin typeface="Tenorite" panose="00000500000000000000" pitchFamily="2" charset="0"/>
              </a:rPr>
              <a:t>OUTCOME</a:t>
            </a:r>
            <a:endParaRPr lang="en-IN" b="1" dirty="0">
              <a:solidFill>
                <a:schemeClr val="accent6">
                  <a:lumMod val="50000"/>
                </a:schemeClr>
              </a:solidFill>
              <a:latin typeface="Tenorite" panose="00000500000000000000" pitchFamily="2" charset="0"/>
            </a:endParaRPr>
          </a:p>
        </p:txBody>
      </p:sp>
      <p:sp>
        <p:nvSpPr>
          <p:cNvPr id="2" name="TextBox 1">
            <a:extLst>
              <a:ext uri="{FF2B5EF4-FFF2-40B4-BE49-F238E27FC236}">
                <a16:creationId xmlns:a16="http://schemas.microsoft.com/office/drawing/2014/main" id="{00F4CF9E-AF26-AA64-8DF0-15BEE0BAB935}"/>
              </a:ext>
            </a:extLst>
          </p:cNvPr>
          <p:cNvSpPr txBox="1"/>
          <p:nvPr/>
        </p:nvSpPr>
        <p:spPr>
          <a:xfrm>
            <a:off x="286870" y="2049157"/>
            <a:ext cx="11618260" cy="2523768"/>
          </a:xfrm>
          <a:prstGeom prst="rect">
            <a:avLst/>
          </a:prstGeom>
          <a:noFill/>
        </p:spPr>
        <p:txBody>
          <a:bodyPr wrap="square">
            <a:spAutoFit/>
          </a:bodyPr>
          <a:lstStyle/>
          <a:p>
            <a:r>
              <a:rPr lang="en-IN" b="1" dirty="0">
                <a:solidFill>
                  <a:schemeClr val="tx2">
                    <a:lumMod val="75000"/>
                  </a:schemeClr>
                </a:solidFill>
                <a:latin typeface="Tenorite" panose="00000500000000000000" pitchFamily="2" charset="0"/>
              </a:rPr>
              <a:t>Current Status of ( </a:t>
            </a:r>
            <a:r>
              <a:rPr lang="en-IN" b="1" dirty="0">
                <a:solidFill>
                  <a:srgbClr val="00B050"/>
                </a:solidFill>
                <a:latin typeface="Tenorite" panose="00000500000000000000" pitchFamily="2" charset="0"/>
              </a:rPr>
              <a:t>research paper </a:t>
            </a:r>
            <a:r>
              <a:rPr lang="en-IN" b="1" dirty="0">
                <a:solidFill>
                  <a:schemeClr val="tx2">
                    <a:lumMod val="75000"/>
                  </a:schemeClr>
                </a:solidFill>
                <a:latin typeface="Tenorite" panose="00000500000000000000" pitchFamily="2" charset="0"/>
              </a:rPr>
              <a:t>) :    </a:t>
            </a:r>
            <a:r>
              <a:rPr lang="en-IN" b="1" dirty="0">
                <a:solidFill>
                  <a:schemeClr val="accent6">
                    <a:lumMod val="50000"/>
                  </a:schemeClr>
                </a:solidFill>
                <a:latin typeface="Tenorite" panose="00000500000000000000" pitchFamily="2" charset="0"/>
              </a:rPr>
              <a:t>Accepted &amp; Submitted</a:t>
            </a:r>
          </a:p>
          <a:p>
            <a:endParaRPr lang="en-IN" b="1" dirty="0">
              <a:solidFill>
                <a:schemeClr val="accent6">
                  <a:lumMod val="50000"/>
                </a:schemeClr>
              </a:solidFill>
              <a:latin typeface="Tenorite" panose="00000500000000000000" pitchFamily="2" charset="0"/>
            </a:endParaRPr>
          </a:p>
          <a:p>
            <a:r>
              <a:rPr lang="en-IN" b="1" dirty="0">
                <a:solidFill>
                  <a:schemeClr val="tx2">
                    <a:lumMod val="75000"/>
                  </a:schemeClr>
                </a:solidFill>
                <a:latin typeface="Tenorite" panose="00000500000000000000" pitchFamily="2" charset="0"/>
              </a:rPr>
              <a:t>Current Status of </a:t>
            </a:r>
            <a:r>
              <a:rPr lang="en-IN" b="1" dirty="0" err="1">
                <a:solidFill>
                  <a:schemeClr val="tx2">
                    <a:lumMod val="75000"/>
                  </a:schemeClr>
                </a:solidFill>
                <a:latin typeface="Tenorite" panose="00000500000000000000" pitchFamily="2" charset="0"/>
              </a:rPr>
              <a:t>Deployement</a:t>
            </a:r>
            <a:r>
              <a:rPr lang="en-IN" b="1" dirty="0">
                <a:solidFill>
                  <a:schemeClr val="accent6">
                    <a:lumMod val="50000"/>
                  </a:schemeClr>
                </a:solidFill>
                <a:latin typeface="Tenorite" panose="00000500000000000000" pitchFamily="2" charset="0"/>
              </a:rPr>
              <a:t> : (Fully Deployed and 100% completed)  </a:t>
            </a:r>
          </a:p>
          <a:p>
            <a:endParaRPr lang="en-IN" b="1" dirty="0">
              <a:solidFill>
                <a:schemeClr val="accent6">
                  <a:lumMod val="50000"/>
                </a:schemeClr>
              </a:solidFill>
              <a:latin typeface="Tenorite" panose="00000500000000000000" pitchFamily="2" charset="0"/>
            </a:endParaRPr>
          </a:p>
          <a:p>
            <a:endParaRPr lang="en-IN" b="1" dirty="0">
              <a:solidFill>
                <a:schemeClr val="accent6">
                  <a:lumMod val="50000"/>
                </a:schemeClr>
              </a:solidFill>
              <a:latin typeface="Tenorite" panose="00000500000000000000" pitchFamily="2" charset="0"/>
            </a:endParaRPr>
          </a:p>
          <a:p>
            <a:endParaRPr lang="en-IN" b="1" dirty="0">
              <a:solidFill>
                <a:schemeClr val="accent6">
                  <a:lumMod val="50000"/>
                </a:schemeClr>
              </a:solidFill>
              <a:latin typeface="Tenorite" panose="00000500000000000000" pitchFamily="2" charset="0"/>
            </a:endParaRPr>
          </a:p>
          <a:p>
            <a:r>
              <a:rPr lang="en-IN" b="1" dirty="0">
                <a:solidFill>
                  <a:schemeClr val="tx2">
                    <a:lumMod val="75000"/>
                  </a:schemeClr>
                </a:solidFill>
                <a:latin typeface="Tenorite" panose="00000500000000000000" pitchFamily="2" charset="0"/>
              </a:rPr>
              <a:t>Provide associated details :    ……………………………………….</a:t>
            </a:r>
          </a:p>
          <a:p>
            <a:r>
              <a:rPr lang="en-IN" b="1" dirty="0">
                <a:solidFill>
                  <a:schemeClr val="tx2">
                    <a:lumMod val="75000"/>
                  </a:schemeClr>
                </a:solidFill>
                <a:latin typeface="Tenorite" panose="00000500000000000000" pitchFamily="2" charset="0"/>
              </a:rPr>
              <a:t>                                              </a:t>
            </a:r>
            <a:endParaRPr lang="en-IN" sz="1400" b="1" dirty="0">
              <a:solidFill>
                <a:schemeClr val="tx2">
                  <a:lumMod val="75000"/>
                </a:schemeClr>
              </a:solidFill>
              <a:latin typeface="Tenorite" panose="00000500000000000000" pitchFamily="2" charset="0"/>
            </a:endParaRPr>
          </a:p>
          <a:p>
            <a:endParaRPr lang="en-IN" sz="1400" b="1" dirty="0">
              <a:solidFill>
                <a:schemeClr val="tx2">
                  <a:lumMod val="75000"/>
                </a:schemeClr>
              </a:solidFill>
              <a:latin typeface="Tenorite" panose="00000500000000000000" pitchFamily="2" charset="0"/>
            </a:endParaRPr>
          </a:p>
        </p:txBody>
      </p:sp>
    </p:spTree>
    <p:extLst>
      <p:ext uri="{BB962C8B-B14F-4D97-AF65-F5344CB8AC3E}">
        <p14:creationId xmlns:p14="http://schemas.microsoft.com/office/powerpoint/2010/main" val="3539750064"/>
      </p:ext>
    </p:extLst>
  </p:cSld>
  <p:clrMapOvr>
    <a:masterClrMapping/>
  </p:clrMapOvr>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6085</TotalTime>
  <Words>1208</Words>
  <Application>Microsoft Office PowerPoint</Application>
  <PresentationFormat>Widescreen</PresentationFormat>
  <Paragraphs>160</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vt:lpstr>
      <vt:lpstr>Aptos Display</vt:lpstr>
      <vt:lpstr>Arial</vt:lpstr>
      <vt:lpstr>Calibri</vt:lpstr>
      <vt:lpstr>League Spartan</vt:lpstr>
      <vt:lpstr>Tenorite</vt:lpstr>
      <vt:lpstr>Times New Roman</vt:lpstr>
      <vt:lpstr>Times New Roman Bold</vt:lpstr>
      <vt:lpstr>Wingdings</vt:lpstr>
      <vt:lpstr>Office Theme</vt:lpstr>
      <vt:lpstr> AI-DRIVEN VIDEO SUMMARIZATION USING LANGCHAIN AND LLM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 Mundra [MU - Jaipur]</dc:creator>
  <cp:lastModifiedBy>Samagra Gupta [CSE - 2022]</cp:lastModifiedBy>
  <cp:revision>44</cp:revision>
  <dcterms:created xsi:type="dcterms:W3CDTF">2024-12-18T05:38:13Z</dcterms:created>
  <dcterms:modified xsi:type="dcterms:W3CDTF">2025-04-16T09:04:23Z</dcterms:modified>
</cp:coreProperties>
</file>